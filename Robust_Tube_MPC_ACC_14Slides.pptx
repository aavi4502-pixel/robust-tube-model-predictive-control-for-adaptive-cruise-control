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Title slide introducing the candidate, project title, guide, and institutional context.</a:t>
            </a:r>
          </a:p>
          <a:p/>
          <a:p>
            <a:r>
              <a:t>=== 2. STUDENT SCRIPT (Speak naturally, 30-60s) ===</a:t>
            </a:r>
          </a:p>
          <a:p>
            <a:r>
              <a:t>"Respected guide and committee members, good morning. Today I am presenting my final-year project on Robust Tube Model Predictive Control for Adaptive Cruise Control. In this work, we tackle a critical problem in automated driving: how to make an autonomous vehicle safely and smoothly follow a leading vehicle, even when the front car brakes suddenly and road disturbances occur. I will explain the problem, how our controller works, our MATLAB and Simulink implementation, and our experimental results."</a:t>
            </a:r>
          </a:p>
          <a:p/>
          <a:p>
            <a:r>
              <a:t>=== 3. LIKELY PROFESSOR QUESTION ===</a:t>
            </a:r>
          </a:p>
          <a:p>
            <a:r>
              <a:t>Q: Why did you choose Tube MPC over classical PID or conventional cruise controllers?</a:t>
            </a:r>
          </a:p>
          <a:p/>
          <a:p>
            <a:r>
              <a:t>=== 4. SHORT TECHNICAL ANSWER ===</a:t>
            </a:r>
          </a:p>
          <a:p>
            <a:r>
              <a:t>A: Classical PID cannot handle physical vehicle constraints and rate limits, while standard MPC assumes a perfect model without disturbances. Tube MPC provides a formal mathematical guarantee of safety by confining the actual vehicle inside a bounded safety tube around a nominal trajectory even under worst-case disturbances.</a:t>
            </a:r>
          </a:p>
          <a:p/>
          <a:p>
            <a:r>
              <a:t>=== 5. TRANSITION TO NEXT SLIDE ===</a:t>
            </a:r>
          </a:p>
          <a:p>
            <a:r>
              <a:t>--&gt; "Let us begin by looking at why vehicle following on highways is such a challenging control engineering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Explains highway following challenges: sudden braking, actuator slew rate limits, disturbances, and the safety-vs-smoothness trade-off.</a:t>
            </a:r>
          </a:p>
          <a:p/>
          <a:p>
            <a:r>
              <a:t>=== 2. STUDENT SCRIPT (Speak naturally, 30-60s) ===</a:t>
            </a:r>
          </a:p>
          <a:p>
            <a:r>
              <a:t>"On the highway, driving at 100 km/h is routine until the front car suddenly slams on the brakes. In control engineering, this creates three major challenges. First, safety: we must maintain adequate distance and prevent rear-end collisions. Second, vehicle actuators—like hydraulic brakes—cannot change acceleration instantly. In our project, the maximum slew rate is 0.25 m/s² per 100 milliseconds, which corresponds to a jerk limit of 2.5 m/s³. Third, real roads have wind gusts, aerodynamic drag, and friction changes. An ideal controller must guarantee safety while strictly respecting these physical actuator limits under all disturbances."</a:t>
            </a:r>
          </a:p>
          <a:p/>
          <a:p>
            <a:r>
              <a:t>=== 3. LIKELY PROFESSOR QUESTION ===</a:t>
            </a:r>
          </a:p>
          <a:p>
            <a:r>
              <a:t>Q: What do you mean by actuator slew rate limit, and why is it 0.25 m/s² per 100 ms?</a:t>
            </a:r>
          </a:p>
          <a:p/>
          <a:p>
            <a:r>
              <a:t>=== 4. SHORT TECHNICAL ANSWER ===</a:t>
            </a:r>
          </a:p>
          <a:p>
            <a:r>
              <a:t>A: Slew rate is the maximum speed at which the actuator can change its output acceleration. In our system running at 10 Hz (100 ms sample period), acceleration cannot jump by more than 0.25 m/s² in a single step. This represents physical valve opening rates and protects passengers from severe jerk.</a:t>
            </a:r>
          </a:p>
          <a:p/>
          <a:p>
            <a:r>
              <a:t>=== 5. TRANSITION TO NEXT SLIDE ===</a:t>
            </a:r>
          </a:p>
          <a:p>
            <a:r>
              <a:t>--&gt; "To address this challenge, let us review how standard Adaptive Cruise Control is modeled."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Defines Adaptive Cruise Control, the constant time headway spacing policy, and the 3rd-order longitudinal state-space model.</a:t>
            </a:r>
          </a:p>
          <a:p/>
          <a:p>
            <a:r>
              <a:t>=== 2. STUDENT SCRIPT (Speak naturally, 30-60s) ===</a:t>
            </a:r>
          </a:p>
          <a:p>
            <a:r>
              <a:t>"Adaptive Cruise Control, or ACC, is an automated driving system that tracks a target vehicle while maintaining a safe distance. We use the industry-standard constant time-headway spacing policy: the desired following distance is a 5-meter standstill margin plus 1.5 seconds multiplied by the ego vehicle speed. As the vehicle speeds up, the required safety gap automatically increases. We model the vehicle using a 3rd-order state vector: distance error, relative velocity error, and ego acceleration, explicitly accounting for actuator delay of 0.2 seconds and aerodynamic drag."</a:t>
            </a:r>
          </a:p>
          <a:p/>
          <a:p>
            <a:r>
              <a:t>=== 3. LIKELY PROFESSOR QUESTION ===</a:t>
            </a:r>
          </a:p>
          <a:p>
            <a:r>
              <a:t>Q: Why is ego acceleration included as a state rather than just position and velocity?</a:t>
            </a:r>
          </a:p>
          <a:p/>
          <a:p>
            <a:r>
              <a:t>=== 4. SHORT TECHNICAL ANSWER ===</a:t>
            </a:r>
          </a:p>
          <a:p>
            <a:r>
              <a:t>A: Including ego acceleration as the third state allows us to model the first-order lag of the throttle and braking actuators, and directly enforce acceleration and jerk constraints within the state-space formulation.</a:t>
            </a:r>
          </a:p>
          <a:p/>
          <a:p>
            <a:r>
              <a:t>=== 5. TRANSITION TO NEXT SLIDE ===</a:t>
            </a:r>
          </a:p>
          <a:p>
            <a:r>
              <a:t>--&gt; "Now let us examine why conventional controllers fail when sudden disturbances occur."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Critiques PID, nominal MPC, static robust MPC, and highlights the step-0 slew rate violation trap.</a:t>
            </a:r>
          </a:p>
          <a:p/>
          <a:p>
            <a:r>
              <a:t>=== 2. STUDENT SCRIPT (Speak naturally, 30-60s) ===</a:t>
            </a:r>
          </a:p>
          <a:p>
            <a:r>
              <a:t>"When we look at traditional controllers, PID is purely reactive and cannot enforce hard physical limits on distance or jerk. Standard MPC looks ahead into the future, but it assumes a perfect mathematical world with zero disturbances. When wind or sudden braking occurs, the real car drifts away from the plan. Naive robust MPC tries to fix this by assuming worst-case disturbances everywhere, but this makes the math too conservative, leading to solver collapse. Most importantly, conventional formulations fail to constrain the very first step against the previously applied input, resulting in severe slew rate violations of over 140%."</a:t>
            </a:r>
          </a:p>
          <a:p/>
          <a:p>
            <a:r>
              <a:t>=== 3. LIKELY PROFESSOR QUESTION ===</a:t>
            </a:r>
          </a:p>
          <a:p>
            <a:r>
              <a:t>Q: Why does standard MPC cause a +141.6% slew rate violation on the first step?</a:t>
            </a:r>
          </a:p>
          <a:p/>
          <a:p>
            <a:r>
              <a:t>=== 4. SHORT TECHNICAL ANSWER ===</a:t>
            </a:r>
          </a:p>
          <a:p>
            <a:r>
              <a:t>A: Standard MPC constrains differences between predicted future steps, like u_1 - u_0, but does not bind the first step u_0 against the physical input applied at the previous sample u(t-1). In emergency braking, the optimizer commands an instantaneous jump to maximum brake, exceeding the physical actuator slew limit.</a:t>
            </a:r>
          </a:p>
          <a:p/>
          <a:p>
            <a:r>
              <a:t>=== 5. TRANSITION TO NEXT SLIDE ===</a:t>
            </a:r>
          </a:p>
          <a:p>
            <a:r>
              <a:t>--&gt; "To understand how we fix this, let us review the basic operating concept of Model Predictive Control."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Explains the MPC concept: prediction over horizon N=6, QP cost optimization, and receding horizon execution.</a:t>
            </a:r>
          </a:p>
          <a:p/>
          <a:p>
            <a:r>
              <a:t>=== 2. STUDENT SCRIPT (Speak naturally, 30-60s) ===</a:t>
            </a:r>
          </a:p>
          <a:p>
            <a:r>
              <a:t>"Model Predictive Control works like an attentive human driver looking ahead down the road. Every 100 milliseconds, it performs three operations. First, it uses the vehicle model to predict what will happen over the next 6 time steps, which is 0.6 seconds. Second, it solves a mathematical optimization problem—a Quadratic Program—to find the control sequence that minimizes tracking error and control effort while respecting safety and actuator limits. Third, it applies only the very first control command to the vehicle actuators. Then the horizon recedes by 100 ms, new radar measurements are taken, and the process repeats."</a:t>
            </a:r>
          </a:p>
          <a:p/>
          <a:p>
            <a:r>
              <a:t>=== 3. LIKELY PROFESSOR QUESTION ===</a:t>
            </a:r>
          </a:p>
          <a:p>
            <a:r>
              <a:t>Q: Why choose a prediction horizon of N = 6 instead of a longer horizon like N = 20?</a:t>
            </a:r>
          </a:p>
          <a:p/>
          <a:p>
            <a:r>
              <a:t>=== 4. SHORT TECHNICAL ANSWER ===</a:t>
            </a:r>
          </a:p>
          <a:p>
            <a:r>
              <a:t>A: A prediction horizon of N = 6 steps (0.6 seconds) at 10 Hz gives sufficient lookahead for longitudinal vehicle braking while keeping the Quadratic Program small enough to solve in under 2 milliseconds, guaranteeing deterministic real-time execution.</a:t>
            </a:r>
          </a:p>
          <a:p/>
          <a:p>
            <a:r>
              <a:t>=== 5. TRANSITION TO NEXT SLIDE ===</a:t>
            </a:r>
          </a:p>
          <a:p>
            <a:r>
              <a:t>--&gt; "However, when disturbances enter this prediction, standard MPC is not enough. This brings us to Robust Tube MPC."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Explains Tube MPC: nominal QP planning, ancillary state feedback, invariant error tubes, and constraint tightening.</a:t>
            </a:r>
          </a:p>
          <a:p/>
          <a:p>
            <a:r>
              <a:t>=== 2. STUDENT SCRIPT (Speak naturally, 30-60s) ===</a:t>
            </a:r>
          </a:p>
          <a:p>
            <a:r>
              <a:t>"Robust Tube MPC solves the disturbance problem through an elegant idea: it splits the vehicle into two cars. The first is an ideal virtual 'nominal car' with zero disturbances. The MPC plans an optimal trajectory for this nominal car. The second is the real car on the road subject to wind and disturbances. We design a fast ancillary controller that acts like a spring, pulling the real car back toward the nominal path. The difference between them is mathematically proven to stay inside an invariant set called a 'tube'. By shrinking the allowable limits by the width of this tube, we guarantee that no matter what disturbance hits the real car, it will never violate physical safety constraints."</a:t>
            </a:r>
          </a:p>
          <a:p/>
          <a:p>
            <a:r>
              <a:t>=== 3. LIKELY PROFESSOR QUESTION ===</a:t>
            </a:r>
          </a:p>
          <a:p>
            <a:r>
              <a:t>Q: What is constraint tightening, and what happens if the tube is too large?</a:t>
            </a:r>
          </a:p>
          <a:p/>
          <a:p>
            <a:r>
              <a:t>=== 4. SHORT TECHNICAL ANSWER ===</a:t>
            </a:r>
          </a:p>
          <a:p>
            <a:r>
              <a:t>A: Constraint tightening subtracts the worst-case disturbance tube from physical vehicle limits. If the tube is calculated too conservatively, the tightened allowable set becomes negative, causing the QP optimizer to collapse and report infeasibility.</a:t>
            </a:r>
          </a:p>
          <a:p/>
          <a:p>
            <a:r>
              <a:t>=== 5. TRANSITION TO NEXT SLIDE ===</a:t>
            </a:r>
          </a:p>
          <a:p>
            <a:r>
              <a:t>--&gt; "This exact issue of tube collapse during sudden braking is what led to our proposed method."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Presents the three core technical innovations: dynamic trajectory-aware tube propagation, step-0 conditioning, and LMI-certified ancillary gain.</a:t>
            </a:r>
          </a:p>
          <a:p/>
          <a:p>
            <a:r>
              <a:t>=== 2. STUDENT SCRIPT (Speak naturally, 30-60s) ===</a:t>
            </a:r>
          </a:p>
          <a:p>
            <a:r>
              <a:t>"Our work introduces three key technical innovations to solve the limitations of standard Tube MPC. First, dynamic trajectory-aware tube propagation: instead of assuming a fixed worst-case tube everywhere, our algorithm scales the tube dynamically with the planned acceleration trajectory, keeping the constraint window open during hard braking. Second, Step-0 Slew-Rate Conditioning, based on Theorem 2, which explicitly constrains the jump between the previous applied input and the very first optimized step. This eliminates the 141% slew violation completely. Third, we synthesize an optimal ancillary gain using discrete LQR and formally certify its contraction and stability using Linear Matrix Inequalities with a decay rate of 0.956."</a:t>
            </a:r>
          </a:p>
          <a:p/>
          <a:p>
            <a:r>
              <a:t>=== 3. LIKELY PROFESSOR QUESTION ===</a:t>
            </a:r>
          </a:p>
          <a:p>
            <a:r>
              <a:t>Q: How does Theorem 2 mathematically guarantee zero slew rate violation?</a:t>
            </a:r>
          </a:p>
          <a:p/>
          <a:p>
            <a:r>
              <a:t>=== 4. SHORT TECHNICAL ANSWER ===</a:t>
            </a:r>
          </a:p>
          <a:p>
            <a:r>
              <a:t>A: Theorem 2 introduces a dedicated linear constraint into the QP matrix that restricts the first nominal control input v_0 based on the previously applied physical input u(t-1) and the ancillary error feedback, ensuring |u(t) - u(t-1)| &lt;= Δu_max unconditionally.</a:t>
            </a:r>
          </a:p>
          <a:p/>
          <a:p>
            <a:r>
              <a:t>=== 5. TRANSITION TO NEXT SLIDE ===</a:t>
            </a:r>
          </a:p>
          <a:p>
            <a:r>
              <a:t>--&gt; "Now, let us examine the complete system architecture connecting these components."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Details the 5-stage real-time architecture: sensors, state/tube evaluation, QP solver, fallback interlock, and physical actuation.</a:t>
            </a:r>
          </a:p>
          <a:p/>
          <a:p>
            <a:r>
              <a:t>=== 2. STUDENT SCRIPT (Speak naturally, 30-60s) ===</a:t>
            </a:r>
          </a:p>
          <a:p>
            <a:r>
              <a:t>"This slide illustrates our system architecture and data flow. Every 100 milliseconds, radar and vehicle sensors measure distance and speed to form the state vector. The tube generator calculates the tightened constraints. These constraints are passed to the qpOASES Quadratic Program solver, which executes in less than 2 milliseconds. The final command combines the nominal MPC output with the ancillary feedback correction. Crucially, if an extreme disturbance ever causes the QP to become infeasible, our architecture includes a certified fallback controller that clamps the slew rate safely, ensuring the car never locks up or crashes."</a:t>
            </a:r>
          </a:p>
          <a:p/>
          <a:p>
            <a:r>
              <a:t>=== 3. LIKELY PROFESSOR QUESTION ===</a:t>
            </a:r>
          </a:p>
          <a:p>
            <a:r>
              <a:t>Q: What triggers the fallback controller, and how does it maintain safety?</a:t>
            </a:r>
          </a:p>
          <a:p/>
          <a:p>
            <a:r>
              <a:t>=== 4. SHORT TECHNICAL ANSWER ===</a:t>
            </a:r>
          </a:p>
          <a:p>
            <a:r>
              <a:t>A: The fallback controller is triggered when the QP optimizer returns an infeasible status (e.g., if tightened bounds temporarily close). It applies a smooth rate-limited deceleration that strictly respects the slew rate limit Δu_max while maintaining safe braking.</a:t>
            </a:r>
          </a:p>
          <a:p/>
          <a:p>
            <a:r>
              <a:t>=== 5. TRANSITION TO NEXT SLIDE ===</a:t>
            </a:r>
          </a:p>
          <a:p>
            <a:r>
              <a:t>--&gt; "Let us now look at how this entire architecture was implemented in MATLAB and Simulink."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Highlights the Simulink model, 10 Hz discrete execution, MEX qpOASES solver integration, and 26/26 automated unit tests.</a:t>
            </a:r>
          </a:p>
          <a:p/>
          <a:p>
            <a:r>
              <a:t>=== 2. STUDENT SCRIPT (Speak naturally, 30-60s) ===</a:t>
            </a:r>
          </a:p>
          <a:p>
            <a:r>
              <a:t>"To validate our controller, we implemented the complete system in MATLAB and Simulink. The model contains modular blocks for the ego vehicle, lead vehicle, tube computation, and the MPC optimizer. We integrated the high-speed qpOASES solver using compiled C++ MEX files, which guarantees fast and deterministic execution under 2 milliseconds. Furthermore, we built a comprehensive verification suite with 26 automated unit tests that verify matrix dimensions, positive definiteness, LMI decay rates, and constraint tightening, ensuring 100% code and model integrity."</a:t>
            </a:r>
          </a:p>
          <a:p/>
          <a:p>
            <a:r>
              <a:t>=== 3. LIKELY PROFESSOR QUESTION ===</a:t>
            </a:r>
          </a:p>
          <a:p>
            <a:r>
              <a:t>Q: How do you ensure the MATLAB Function block runs within the 100 ms real-time limit?</a:t>
            </a:r>
          </a:p>
          <a:p/>
          <a:p>
            <a:r>
              <a:t>=== 4. SHORT TECHNICAL ANSWER ===</a:t>
            </a:r>
          </a:p>
          <a:p>
            <a:r>
              <a:t>A: qpOASES is an active-set QP solver optimized for embedded MPC. On our standard PC hardware, each QP solves in 1.2 to 1.8 milliseconds, well within the 100 millisecond sampling period, leaving over 98% of the CPU cycle free.</a:t>
            </a:r>
          </a:p>
          <a:p/>
          <a:p>
            <a:r>
              <a:t>=== 5. TRANSITION TO NEXT SLIDE ===</a:t>
            </a:r>
          </a:p>
          <a:p>
            <a:r>
              <a:t>--&gt; "Next, let us look at the four rigorous test scenarios we used to benchmark the controller."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Defines the 4 benchmark driving scenarios: Core-1 (Cruising), Core-2 (Cut-In), Core-3 (Emergency Braking), and Core-4 (Stress Test).</a:t>
            </a:r>
          </a:p>
          <a:p/>
          <a:p>
            <a:r>
              <a:t>=== 2. STUDENT SCRIPT (Speak naturally, 30-60s) ===</a:t>
            </a:r>
          </a:p>
          <a:p>
            <a:r>
              <a:t>"To thoroughly evaluate our controller, we designed four demanding test scenarios. Core-1 represents nominal highway driving with smooth speed changes. Core-2 simulates an aggressive cut-in, where a vehicle cuts into our lane with minimal gap. Core-3 is our primary ablation benchmark: the front vehicle slams the brakes at emergency deceleration of up to -4 m/s². We use Core-3 to compare five different controller variants. Finally, Core-4 is an extreme multi-disturbance stress test combining hard braking, sudden cut-in, gusting winds, and sensor noise to evaluate system limits."</a:t>
            </a:r>
          </a:p>
          <a:p/>
          <a:p>
            <a:r>
              <a:t>=== 3. LIKELY PROFESSOR QUESTION ===</a:t>
            </a:r>
          </a:p>
          <a:p>
            <a:r>
              <a:t>Q: Why is Core-3 chosen as the main ablation benchmark?</a:t>
            </a:r>
          </a:p>
          <a:p/>
          <a:p>
            <a:r>
              <a:t>=== 4. SHORT TECHNICAL ANSWER ===</a:t>
            </a:r>
          </a:p>
          <a:p>
            <a:r>
              <a:t>A: Core-3 isolates the hardest challenge for Tube MPC: an emergency brake command forces the state near the physical constraint boundary while rapid deceleration occurs, exposing both tube collapse and slew rate violations.</a:t>
            </a:r>
          </a:p>
          <a:p/>
          <a:p>
            <a:r>
              <a:t>=== 5. TRANSITION TO NEXT SLIDE ===</a:t>
            </a:r>
          </a:p>
          <a:p>
            <a:r>
              <a:t>--&gt; "Let us examine the quantitative results obtained across all five controller variants in this Core-3 benchmark."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Walks through the Core-3 ablation table comparing Variants A through E across feasibility, fallbacks, slew violations, and TV(u).</a:t>
            </a:r>
          </a:p>
          <a:p/>
          <a:p>
            <a:r>
              <a:t>=== 2. STUDENT SCRIPT (Speak naturally, 30-60s) ===</a:t>
            </a:r>
          </a:p>
          <a:p>
            <a:r>
              <a:t>"This table presents our main experimental results in the Core-3 emergency braking benchmark across 51 simulation steps. In Variant A, the baseline controller achieves 100% mathematical feasibility, but it suffers a severe actuator slew rate violation of 0.3539 m/s², which is 141.6% above the physical limit. When we add step-0 conditioning to a static tube in Variant C, the slew violation drops to zero, but the tube collapses, causing QP feasibility to plummet to 33.3%. In Variant D, adding trajectory-aware propagation restores feasibility to 86.3%. Finally, in our proposed Variant E, combining trajectory propagation, step-0 conditioning, and our LMI-certified optimal gain achieves 100% QP feasibility, zero slew violations, and reduces control total variation by 48.4%."</a:t>
            </a:r>
          </a:p>
          <a:p/>
          <a:p>
            <a:r>
              <a:t>=== 3. LIKELY PROFESSOR QUESTION ===</a:t>
            </a:r>
          </a:p>
          <a:p>
            <a:r>
              <a:t>Q: Why did Variant C drop to only 33.3% feasibility?</a:t>
            </a:r>
          </a:p>
          <a:p/>
          <a:p>
            <a:r>
              <a:t>=== 4. SHORT TECHNICAL ANSWER ===</a:t>
            </a:r>
          </a:p>
          <a:p>
            <a:r>
              <a:t>A: Variant C combined static worst-case tube bounds with step-0 conditioning. The static bounds over-tightened the constraint set, causing the minimum allowable width to become negative (-1.60 m/s²), which mathematically trapped the QP solver in 34 out of 51 steps.</a:t>
            </a:r>
          </a:p>
          <a:p/>
          <a:p>
            <a:r>
              <a:t>=== 5. TRANSITION TO NEXT SLIDE ===</a:t>
            </a:r>
          </a:p>
          <a:p>
            <a:r>
              <a:t>--&gt; "Let us interpret what these numbers mean from a practical vehicle engineering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Explains practical engineering takeaways: why static tubes collapse, how trajectory propagation expands feasible space, and honest multi-scenario safety.</a:t>
            </a:r>
          </a:p>
          <a:p/>
          <a:p>
            <a:r>
              <a:t>=== 2. STUDENT SCRIPT (Speak naturally, 30-60s) ===</a:t>
            </a:r>
          </a:p>
          <a:p>
            <a:r>
              <a:t>"What do these results mean in practice? First, it proves that static tubes are unsuitable for emergency vehicle maneuvers because they cause solver collapse. Dynamic trajectory propagation solves this by adapting the tube to the vehicle's planned motion. Second, eliminating the 141% slew violation means passenger jerk is cut nearly in half, resulting in smoother braking and protecting hydraulic actuators. Third, we present an honest scientific evaluation: in extreme cut-in (Core-2) and stress scenarios (Core-4), when the QP becomes infeasible, our fallback controller smoothly maintains safe distance—over 36 meters of clearance—with zero collisions. Feasibility drops under extreme shocks, but physical safety is never compromised."</a:t>
            </a:r>
          </a:p>
          <a:p/>
          <a:p>
            <a:r>
              <a:t>=== 3. LIKELY PROFESSOR QUESTION ===</a:t>
            </a:r>
          </a:p>
          <a:p>
            <a:r>
              <a:t>Q: Are you claiming 100% feasibility in all driving situations?</a:t>
            </a:r>
          </a:p>
          <a:p/>
          <a:p>
            <a:r>
              <a:t>=== 4. SHORT TECHNICAL ANSWER ===</a:t>
            </a:r>
          </a:p>
          <a:p>
            <a:r>
              <a:t>A: No, sir. We explicitly distinguish between nominal/emergency braking (Core-1 and Core-3, where our controller achieves 100% feasibility) and extreme shock scenarios (Core-2 cut-in and Core-4 stress test). In Core-4, QP feasibility is 5.9%, but our certified fallback controller guarantees zero slew violations and keeps the car completely safe at 36.16 m clearance.</a:t>
            </a:r>
          </a:p>
          <a:p/>
          <a:p>
            <a:r>
              <a:t>=== 5. TRANSITION TO NEXT SLIDE ===</a:t>
            </a:r>
          </a:p>
          <a:p>
            <a:r>
              <a:t>--&gt; "This honest assessment naturally leads us to the limitations of our work and avenues for future research."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Transparently outlines current project assumptions (linear 3rd-order model, N=6 horizon, bounded disturbances) and future research directions.</a:t>
            </a:r>
          </a:p>
          <a:p/>
          <a:p>
            <a:r>
              <a:t>=== 2. STUDENT SCRIPT (Speak naturally, 30-60s) ===</a:t>
            </a:r>
          </a:p>
          <a:p>
            <a:r>
              <a:t>"Every engineering project has boundaries. Our current model uses a linear third-order longitudinal formulation, which is excellent for speed and distance control, but does not include lateral steering or vehicle pitch. Our prediction horizon is 6 steps, tailored for real-time responsiveness rather than long-range route planning. For future work, we plan to extend this to Nonlinear MPC to handle combined steering and braking for lane changes, implement online road friction estimation for wet roads, and deploy the controller onto hardware-in-the-loop test rigs such as dSPACE MicroAutoBox."</a:t>
            </a:r>
          </a:p>
          <a:p/>
          <a:p>
            <a:r>
              <a:t>=== 3. LIKELY PROFESSOR QUESTION ===</a:t>
            </a:r>
          </a:p>
          <a:p>
            <a:r>
              <a:t>Q: How would you handle non-linear tire behavior if braking on ice?</a:t>
            </a:r>
          </a:p>
          <a:p/>
          <a:p>
            <a:r>
              <a:t>=== 4. SHORT TECHNICAL ANSWER ===</a:t>
            </a:r>
          </a:p>
          <a:p>
            <a:r>
              <a:t>A: On icy roads with low friction coefficient mu, the tire enters non-linear saturation. In our future work, an adaptive estimator would update the disturbance set bounds in real-time, or the system would switch to our verified fallback deceleration law.</a:t>
            </a:r>
          </a:p>
          <a:p/>
          <a:p>
            <a:r>
              <a:t>=== 5. TRANSITION TO NEXT SLIDE ===</a:t>
            </a:r>
          </a:p>
          <a:p>
            <a:r>
              <a:t>--&gt; "Let us conclude with a summary of our key achievements."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SLIDE SUMMARY ===</a:t>
            </a:r>
          </a:p>
          <a:p>
            <a:r>
              <a:t>Final conclusion slide summarizing the project achievements, deliverables, and inviting committee viva questions.</a:t>
            </a:r>
          </a:p>
          <a:p/>
          <a:p>
            <a:r>
              <a:t>=== 2. STUDENT SCRIPT (Speak naturally, 30-60s) ===</a:t>
            </a:r>
          </a:p>
          <a:p>
            <a:r>
              <a:t>"In conclusion, this project successfully addressed the conflict between robust safety and actuator slew rate limits in Adaptive Cruise Control. By introducing dynamic trajectory-aware tube propagation and Step-0 conditioning, we eliminated tube collapse in emergency braking, achieved 100% QP feasibility, zero slew violations, and cut control variation by 48.4%. The entire system is fully implemented and verified in MATLAB and Simulink with 26 automated unit tests. Thank you very much, respected guide and committee members. I am now open and ready for your questions."</a:t>
            </a:r>
          </a:p>
          <a:p/>
          <a:p>
            <a:r>
              <a:t>=== 3. LIKELY PROFESSOR QUESTION ===</a:t>
            </a:r>
          </a:p>
          <a:p>
            <a:r>
              <a:t>Q: What was your personal biggest takeaway or lesson from this project?</a:t>
            </a:r>
          </a:p>
          <a:p/>
          <a:p>
            <a:r>
              <a:t>=== 4. SHORT TECHNICAL ANSWER ===</a:t>
            </a:r>
          </a:p>
          <a:p>
            <a:r>
              <a:t>A: My biggest takeaway was understanding that control engineering in the real world is about balancing mathematical guarantees with physical hardware limits like actuator slew rates, and having a safe fallback when extreme disturbances push the solver beyond its boundary.</a:t>
            </a:r>
          </a:p>
          <a:p/>
          <a:p>
            <a:r>
              <a:t>=== 5. TRANSITION TO NEXT SLIDE ===</a:t>
            </a:r>
          </a:p>
          <a:p>
            <a:r>
              <a:t>--&gt; "Thank you, Sir. I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914400" y="1097280"/>
            <a:ext cx="73152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2011680"/>
          </a:xfrm>
          <a:prstGeom prst="rect">
            <a:avLst/>
          </a:prstGeom>
          <a:noFill/>
        </p:spPr>
        <p:txBody>
          <a:bodyPr wrap="square">
            <a:spAutoFit/>
          </a:bodyPr>
          <a:lstStyle/>
          <a:p>
            <a:pPr>
              <a:defRPr sz="3400" b="1">
                <a:solidFill>
                  <a:srgbClr val="FFFFFF"/>
                </a:solidFill>
              </a:defRPr>
            </a:pPr>
            <a:r>
              <a:t>Robust Tube Model Predictive Control</a:t>
            </a:r>
            <a:br/>
            <a:r>
              <a:t>for Adaptive Cruise Control</a:t>
            </a:r>
          </a:p>
          <a:p>
            <a:pPr>
              <a:spcBef>
                <a:spcPts val="1200"/>
              </a:spcBef>
              <a:defRPr sz="1700">
                <a:solidFill>
                  <a:srgbClr val="94A3B8"/>
                </a:solidFill>
              </a:defRPr>
            </a:pPr>
            <a:r>
              <a:t>Guaranteed Constraint Satisfaction, Slew-Rate Compliance, and Collision Avoidance</a:t>
            </a:r>
          </a:p>
        </p:txBody>
      </p:sp>
      <p:sp>
        <p:nvSpPr>
          <p:cNvPr id="4" name="Rounded Rectangle 3"/>
          <p:cNvSpPr/>
          <p:nvPr/>
        </p:nvSpPr>
        <p:spPr>
          <a:xfrm>
            <a:off x="914400" y="3931920"/>
            <a:ext cx="4937760" cy="21031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100" b="1">
                <a:solidFill>
                  <a:srgbClr val="0D9488"/>
                </a:solidFill>
              </a:defRPr>
            </a:pPr>
            <a:r>
              <a:t>STUDENT PRESENTER</a:t>
            </a:r>
          </a:p>
          <a:p>
            <a:pPr>
              <a:spcBef>
                <a:spcPts val="600"/>
              </a:spcBef>
              <a:defRPr sz="1300">
                <a:solidFill>
                  <a:srgbClr val="F1F5F9"/>
                </a:solidFill>
              </a:defRPr>
            </a:pPr>
            <a:r>
              <a:t>[Your Name / Roll No.]</a:t>
            </a:r>
            <a:br/>
            <a:r>
              <a:t>Final-Year B.Tech / B.E. Project Defense</a:t>
            </a:r>
            <a:br/>
            <a:r>
              <a:t>Department of Electrical / Control Systems</a:t>
            </a:r>
          </a:p>
        </p:txBody>
      </p:sp>
      <p:sp>
        <p:nvSpPr>
          <p:cNvPr id="5" name="Rounded Rectangle 4"/>
          <p:cNvSpPr/>
          <p:nvPr/>
        </p:nvSpPr>
        <p:spPr>
          <a:xfrm>
            <a:off x="6309360" y="3931920"/>
            <a:ext cx="4937760" cy="21031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100" b="1">
                <a:solidFill>
                  <a:srgbClr val="0D9488"/>
                </a:solidFill>
              </a:defRPr>
            </a:pPr>
            <a:r>
              <a:t>PROJECT GUIDANCE</a:t>
            </a:r>
          </a:p>
          <a:p>
            <a:pPr>
              <a:spcBef>
                <a:spcPts val="600"/>
              </a:spcBef>
              <a:defRPr sz="1300">
                <a:solidFill>
                  <a:srgbClr val="F1F5F9"/>
                </a:solidFill>
              </a:defRPr>
            </a:pPr>
            <a:r>
              <a:t>Under the Guidance of:</a:t>
            </a:r>
            <a:br/>
            <a:r>
              <a:t>[Professor / Guide Name]</a:t>
            </a:r>
            <a:br/>
            <a:r>
              <a:t>Verified with 26/26 Automated Unit Tests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0D9488"/>
                </a:solidFill>
              </a:defRPr>
            </a:pPr>
            <a:r>
              <a:t>SYSTEM MOTIVATION</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F172A"/>
                </a:solidFill>
              </a:defRPr>
            </a:pPr>
            <a:r>
              <a:t>The Real-World Problem: Highway Following Under Sudden Braking</a:t>
            </a:r>
          </a:p>
        </p:txBody>
      </p:sp>
      <p:sp>
        <p:nvSpPr>
          <p:cNvPr id="4" name="Rounded Rectangle 3"/>
          <p:cNvSpPr/>
          <p:nvPr/>
        </p:nvSpPr>
        <p:spPr>
          <a:xfrm>
            <a:off x="7315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1. Sudden Hard Braking</a:t>
            </a:r>
          </a:p>
          <a:p>
            <a:pPr>
              <a:spcAft>
                <a:spcPts val="400"/>
              </a:spcAft>
              <a:defRPr sz="1000" b="1">
                <a:solidFill>
                  <a:srgbClr val="0D9488"/>
                </a:solidFill>
              </a:defRPr>
            </a:pPr>
            <a:r>
              <a:t>[Safety Critical]</a:t>
            </a:r>
          </a:p>
          <a:p>
            <a:pPr>
              <a:spcBef>
                <a:spcPts val="400"/>
              </a:spcBef>
              <a:defRPr sz="1200">
                <a:solidFill>
                  <a:srgbClr val="1E293B"/>
                </a:solidFill>
              </a:defRPr>
            </a:pPr>
            <a:r>
              <a:t>•  Lead car can slam brakes unexpectedly at -3.5 to -4.0 m/s².</a:t>
            </a:r>
          </a:p>
          <a:p>
            <a:pPr>
              <a:spcBef>
                <a:spcPts val="400"/>
              </a:spcBef>
              <a:defRPr sz="1200">
                <a:solidFill>
                  <a:srgbClr val="1E293B"/>
                </a:solidFill>
              </a:defRPr>
            </a:pPr>
            <a:r>
              <a:t>•  Distance shrinks rapidly in fractions of a second.</a:t>
            </a:r>
          </a:p>
          <a:p>
            <a:pPr>
              <a:spcBef>
                <a:spcPts val="400"/>
              </a:spcBef>
              <a:defRPr sz="1200">
                <a:solidFill>
                  <a:srgbClr val="1E293B"/>
                </a:solidFill>
              </a:defRPr>
            </a:pPr>
            <a:r>
              <a:t>•  Requires immediate and decisive deceleration response.</a:t>
            </a:r>
          </a:p>
        </p:txBody>
      </p:sp>
      <p:sp>
        <p:nvSpPr>
          <p:cNvPr id="5" name="Rounded Rectangle 4"/>
          <p:cNvSpPr/>
          <p:nvPr/>
        </p:nvSpPr>
        <p:spPr>
          <a:xfrm>
            <a:off x="34747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2. Actuator Rate Limits</a:t>
            </a:r>
          </a:p>
          <a:p>
            <a:pPr>
              <a:spcAft>
                <a:spcPts val="400"/>
              </a:spcAft>
              <a:defRPr sz="1000" b="1">
                <a:solidFill>
                  <a:srgbClr val="0D9488"/>
                </a:solidFill>
              </a:defRPr>
            </a:pPr>
            <a:r>
              <a:t>[Physical Limitation]</a:t>
            </a:r>
          </a:p>
          <a:p>
            <a:pPr>
              <a:spcBef>
                <a:spcPts val="400"/>
              </a:spcBef>
              <a:defRPr sz="1200">
                <a:solidFill>
                  <a:srgbClr val="1E293B"/>
                </a:solidFill>
              </a:defRPr>
            </a:pPr>
            <a:r>
              <a:t>•  Hydraulic brakes cannot change pressure instantaneously.</a:t>
            </a:r>
          </a:p>
          <a:p>
            <a:pPr>
              <a:spcBef>
                <a:spcPts val="400"/>
              </a:spcBef>
              <a:defRPr sz="1200">
                <a:solidFill>
                  <a:srgbClr val="1E293B"/>
                </a:solidFill>
              </a:defRPr>
            </a:pPr>
            <a:r>
              <a:t>•  Slew rate limit: Δu_max = 0.25 m/s² per 100 ms (2.5 m/s³ jerk).</a:t>
            </a:r>
          </a:p>
          <a:p>
            <a:pPr>
              <a:spcBef>
                <a:spcPts val="400"/>
              </a:spcBef>
              <a:defRPr sz="1200">
                <a:solidFill>
                  <a:srgbClr val="1E293B"/>
                </a:solidFill>
              </a:defRPr>
            </a:pPr>
            <a:r>
              <a:t>•  Exceeding slew causes valve saturation &amp; passenger discomfort.</a:t>
            </a:r>
          </a:p>
        </p:txBody>
      </p:sp>
      <p:sp>
        <p:nvSpPr>
          <p:cNvPr id="6" name="Rounded Rectangle 5"/>
          <p:cNvSpPr/>
          <p:nvPr/>
        </p:nvSpPr>
        <p:spPr>
          <a:xfrm>
            <a:off x="62179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3. Unknown Disturbances</a:t>
            </a:r>
          </a:p>
          <a:p>
            <a:pPr>
              <a:spcAft>
                <a:spcPts val="400"/>
              </a:spcAft>
              <a:defRPr sz="1000" b="1">
                <a:solidFill>
                  <a:srgbClr val="0D9488"/>
                </a:solidFill>
              </a:defRPr>
            </a:pPr>
            <a:r>
              <a:t>[Environmental Uncertainty]</a:t>
            </a:r>
          </a:p>
          <a:p>
            <a:pPr>
              <a:spcBef>
                <a:spcPts val="400"/>
              </a:spcBef>
              <a:defRPr sz="1200">
                <a:solidFill>
                  <a:srgbClr val="1E293B"/>
                </a:solidFill>
              </a:defRPr>
            </a:pPr>
            <a:r>
              <a:t>•  Wind gusts push against vehicle frontal area.</a:t>
            </a:r>
          </a:p>
          <a:p>
            <a:pPr>
              <a:spcBef>
                <a:spcPts val="400"/>
              </a:spcBef>
              <a:defRPr sz="1200">
                <a:solidFill>
                  <a:srgbClr val="1E293B"/>
                </a:solidFill>
              </a:defRPr>
            </a:pPr>
            <a:r>
              <a:t>•  Aerodynamic drag varies nonlinearly with vehicle speed.</a:t>
            </a:r>
          </a:p>
          <a:p>
            <a:pPr>
              <a:spcBef>
                <a:spcPts val="400"/>
              </a:spcBef>
              <a:defRPr sz="1200">
                <a:solidFill>
                  <a:srgbClr val="1E293B"/>
                </a:solidFill>
              </a:defRPr>
            </a:pPr>
            <a:r>
              <a:t>•  Tire-road friction varies between dry, wet, or uneven asphalt.</a:t>
            </a:r>
          </a:p>
        </p:txBody>
      </p:sp>
      <p:sp>
        <p:nvSpPr>
          <p:cNvPr id="7" name="Rounded Rectangle 6"/>
          <p:cNvSpPr/>
          <p:nvPr/>
        </p:nvSpPr>
        <p:spPr>
          <a:xfrm>
            <a:off x="8961120" y="1463040"/>
            <a:ext cx="2468880" cy="466344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4. The Core Dilemma</a:t>
            </a:r>
          </a:p>
          <a:p>
            <a:pPr>
              <a:spcAft>
                <a:spcPts val="400"/>
              </a:spcAft>
              <a:defRPr sz="1000" b="1">
                <a:solidFill>
                  <a:srgbClr val="0D9488"/>
                </a:solidFill>
              </a:defRPr>
            </a:pPr>
            <a:r>
              <a:t>[The Control Trade-off]</a:t>
            </a:r>
          </a:p>
          <a:p>
            <a:pPr>
              <a:spcBef>
                <a:spcPts val="400"/>
              </a:spcBef>
              <a:defRPr sz="1200">
                <a:solidFill>
                  <a:srgbClr val="1E293B"/>
                </a:solidFill>
              </a:defRPr>
            </a:pPr>
            <a:r>
              <a:t>•  Aggressive braking: violates actuator slew rates and causes jerking.</a:t>
            </a:r>
          </a:p>
          <a:p>
            <a:pPr>
              <a:spcBef>
                <a:spcPts val="400"/>
              </a:spcBef>
              <a:defRPr sz="1200">
                <a:solidFill>
                  <a:srgbClr val="1E293B"/>
                </a:solidFill>
              </a:defRPr>
            </a:pPr>
            <a:r>
              <a:t>•  Sluggish braking: respects slew limits but causes rear-end collisions.</a:t>
            </a:r>
          </a:p>
          <a:p>
            <a:pPr>
              <a:spcBef>
                <a:spcPts val="400"/>
              </a:spcBef>
              <a:defRPr sz="1200">
                <a:solidFill>
                  <a:srgbClr val="1E293B"/>
                </a:solidFill>
              </a:defRPr>
            </a:pPr>
            <a:r>
              <a:t>•  Need a controller that guarantees both safety AND slew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0D9488"/>
                </a:solidFill>
              </a:defRPr>
            </a:pPr>
            <a:r>
              <a:t>SYSTEM MODELING &amp; FOUNDATIONS</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F172A"/>
                </a:solidFill>
              </a:defRPr>
            </a:pPr>
            <a:r>
              <a:t>What is Adaptive Cruise Control (ACC)?</a:t>
            </a:r>
          </a:p>
        </p:txBody>
      </p:sp>
      <p:sp>
        <p:nvSpPr>
          <p:cNvPr id="4" name="Rounded Rectangle 3"/>
          <p:cNvSpPr/>
          <p:nvPr/>
        </p:nvSpPr>
        <p:spPr>
          <a:xfrm>
            <a:off x="731520" y="1463040"/>
            <a:ext cx="329184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Operating Principle</a:t>
            </a:r>
          </a:p>
          <a:p>
            <a:pPr>
              <a:spcAft>
                <a:spcPts val="400"/>
              </a:spcAft>
              <a:defRPr sz="1000" b="1">
                <a:solidFill>
                  <a:srgbClr val="0D9488"/>
                </a:solidFill>
              </a:defRPr>
            </a:pPr>
            <a:r>
              <a:t>[Autonomous Longitudinal Control]</a:t>
            </a:r>
          </a:p>
          <a:p>
            <a:pPr>
              <a:spcBef>
                <a:spcPts val="400"/>
              </a:spcBef>
              <a:defRPr sz="1200">
                <a:solidFill>
                  <a:srgbClr val="1E293B"/>
                </a:solidFill>
              </a:defRPr>
            </a:pPr>
            <a:r>
              <a:t>•  Radar / LiDAR sensors measure relative distance d(t) and speed v_rel(t).</a:t>
            </a:r>
          </a:p>
          <a:p>
            <a:pPr>
              <a:spcBef>
                <a:spcPts val="400"/>
              </a:spcBef>
              <a:defRPr sz="1200">
                <a:solidFill>
                  <a:srgbClr val="1E293B"/>
                </a:solidFill>
              </a:defRPr>
            </a:pPr>
            <a:r>
              <a:t>•  Ego vehicle automatically regulates throttle and brakes u(t).</a:t>
            </a:r>
          </a:p>
          <a:p>
            <a:pPr>
              <a:spcBef>
                <a:spcPts val="400"/>
              </a:spcBef>
              <a:defRPr sz="1200">
                <a:solidFill>
                  <a:srgbClr val="1E293B"/>
                </a:solidFill>
              </a:defRPr>
            </a:pPr>
            <a:r>
              <a:t>•  Maintains safe buffer behind lead car without driver intervention.</a:t>
            </a:r>
          </a:p>
          <a:p>
            <a:pPr>
              <a:spcBef>
                <a:spcPts val="400"/>
              </a:spcBef>
              <a:defRPr sz="1200">
                <a:solidFill>
                  <a:srgbClr val="1E293B"/>
                </a:solidFill>
              </a:defRPr>
            </a:pPr>
            <a:r>
              <a:t>•  Transitions between speed tracking (free road) and gap tracking (following).</a:t>
            </a:r>
          </a:p>
        </p:txBody>
      </p:sp>
      <p:sp>
        <p:nvSpPr>
          <p:cNvPr id="5" name="Rounded Rectangle 4"/>
          <p:cNvSpPr/>
          <p:nvPr/>
        </p:nvSpPr>
        <p:spPr>
          <a:xfrm>
            <a:off x="4389120" y="1463040"/>
            <a:ext cx="329184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Spacing Policy</a:t>
            </a:r>
          </a:p>
          <a:p>
            <a:pPr>
              <a:spcAft>
                <a:spcPts val="400"/>
              </a:spcAft>
              <a:defRPr sz="1000" b="1">
                <a:solidFill>
                  <a:srgbClr val="0D9488"/>
                </a:solidFill>
              </a:defRPr>
            </a:pPr>
            <a:r>
              <a:t>[Industry Standard Spacing]</a:t>
            </a:r>
          </a:p>
          <a:p>
            <a:pPr>
              <a:spcBef>
                <a:spcPts val="400"/>
              </a:spcBef>
              <a:defRPr sz="1200">
                <a:solidFill>
                  <a:srgbClr val="1E293B"/>
                </a:solidFill>
              </a:defRPr>
            </a:pPr>
            <a:r>
              <a:t>•  Constant Time-Headway Policy (CTHP):</a:t>
            </a:r>
          </a:p>
          <a:p>
            <a:pPr>
              <a:spcBef>
                <a:spcPts val="400"/>
              </a:spcBef>
              <a:defRPr sz="1200">
                <a:solidFill>
                  <a:srgbClr val="1E293B"/>
                </a:solidFill>
              </a:defRPr>
            </a:pPr>
            <a:r>
              <a:t>•  d_des(t) = d_0 + v_ego(t) · τ_h</a:t>
            </a:r>
          </a:p>
          <a:p>
            <a:pPr>
              <a:spcBef>
                <a:spcPts val="400"/>
              </a:spcBef>
              <a:defRPr sz="1200">
                <a:solidFill>
                  <a:srgbClr val="1E293B"/>
                </a:solidFill>
              </a:defRPr>
            </a:pPr>
            <a:r>
              <a:t>•  Standstill distance: d_0 = 5.0 meters.</a:t>
            </a:r>
          </a:p>
          <a:p>
            <a:pPr>
              <a:spcBef>
                <a:spcPts val="400"/>
              </a:spcBef>
              <a:defRPr sz="1200">
                <a:solidFill>
                  <a:srgbClr val="1E293B"/>
                </a:solidFill>
              </a:defRPr>
            </a:pPr>
            <a:r>
              <a:t>•  Time headway: τ_h = 1.5 seconds.</a:t>
            </a:r>
          </a:p>
          <a:p>
            <a:pPr>
              <a:spcBef>
                <a:spcPts val="400"/>
              </a:spcBef>
              <a:defRPr sz="1200">
                <a:solidFill>
                  <a:srgbClr val="1E293B"/>
                </a:solidFill>
              </a:defRPr>
            </a:pPr>
            <a:r>
              <a:t>•  Higher ego speed automatically widens the safety gap to preserve braking room.</a:t>
            </a:r>
          </a:p>
        </p:txBody>
      </p:sp>
      <p:sp>
        <p:nvSpPr>
          <p:cNvPr id="6" name="Rounded Rectangle 5"/>
          <p:cNvSpPr/>
          <p:nvPr/>
        </p:nvSpPr>
        <p:spPr>
          <a:xfrm>
            <a:off x="8046720" y="1463040"/>
            <a:ext cx="33832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3rd-Order State-Space Model</a:t>
            </a:r>
          </a:p>
          <a:p>
            <a:pPr>
              <a:spcAft>
                <a:spcPts val="400"/>
              </a:spcAft>
              <a:defRPr sz="1000" b="1">
                <a:solidFill>
                  <a:srgbClr val="0D9488"/>
                </a:solidFill>
              </a:defRPr>
            </a:pPr>
            <a:r>
              <a:t>[Longitudinal Vehicle Dynamics]</a:t>
            </a:r>
          </a:p>
          <a:p>
            <a:pPr>
              <a:spcBef>
                <a:spcPts val="400"/>
              </a:spcBef>
              <a:defRPr sz="1200">
                <a:solidFill>
                  <a:srgbClr val="1E293B"/>
                </a:solidFill>
              </a:defRPr>
            </a:pPr>
            <a:r>
              <a:t>•  State vector x = [e_d, e_v, a_ego]^T:</a:t>
            </a:r>
          </a:p>
          <a:p>
            <a:pPr>
              <a:spcBef>
                <a:spcPts val="400"/>
              </a:spcBef>
              <a:defRPr sz="1200">
                <a:solidFill>
                  <a:srgbClr val="1E293B"/>
                </a:solidFill>
              </a:defRPr>
            </a:pPr>
            <a:r>
              <a:t>•  • e_d = d(t) - d_des(t)  (Distance error)</a:t>
            </a:r>
          </a:p>
          <a:p>
            <a:pPr>
              <a:spcBef>
                <a:spcPts val="400"/>
              </a:spcBef>
              <a:defRPr sz="1200">
                <a:solidFill>
                  <a:srgbClr val="1E293B"/>
                </a:solidFill>
              </a:defRPr>
            </a:pPr>
            <a:r>
              <a:t>•  • e_v = v_lead(t) - v_ego(t)  (Velocity error)</a:t>
            </a:r>
          </a:p>
          <a:p>
            <a:pPr>
              <a:spcBef>
                <a:spcPts val="400"/>
              </a:spcBef>
              <a:defRPr sz="1200">
                <a:solidFill>
                  <a:srgbClr val="1E293B"/>
                </a:solidFill>
              </a:defRPr>
            </a:pPr>
            <a:r>
              <a:t>•  • a_ego: Ego vehicle acceleration</a:t>
            </a:r>
          </a:p>
          <a:p>
            <a:pPr>
              <a:spcBef>
                <a:spcPts val="400"/>
              </a:spcBef>
              <a:defRPr sz="1200">
                <a:solidFill>
                  <a:srgbClr val="1E293B"/>
                </a:solidFill>
              </a:defRPr>
            </a:pPr>
            <a:r>
              <a:t>•  Actuator time lag τ_a = 0.2 s.</a:t>
            </a:r>
          </a:p>
          <a:p>
            <a:pPr>
              <a:spcBef>
                <a:spcPts val="400"/>
              </a:spcBef>
              <a:defRPr sz="1200">
                <a:solidFill>
                  <a:srgbClr val="1E293B"/>
                </a:solidFill>
              </a:defRPr>
            </a:pPr>
            <a:r>
              <a:t>•  Aerodynamic drag c = C_0 · v_0 = 2.0 s⁻¹.</a:t>
            </a:r>
          </a:p>
          <a:p>
            <a:pPr>
              <a:spcBef>
                <a:spcPts val="400"/>
              </a:spcBef>
              <a:defRPr sz="1200">
                <a:solidFill>
                  <a:srgbClr val="1E293B"/>
                </a:solidFill>
              </a:defRPr>
            </a:pPr>
            <a:r>
              <a:t>•  Sample period T_s = 0.1 s (10 Hz 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0D9488"/>
                </a:solidFill>
              </a:defRPr>
            </a:pPr>
            <a:r>
              <a:t>LIMITATIONS OF EXISTING METHODS</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F172A"/>
                </a:solidFill>
              </a:defRPr>
            </a:pPr>
            <a:r>
              <a:t>The Problem with Ordinary Control</a:t>
            </a:r>
          </a:p>
        </p:txBody>
      </p:sp>
      <p:sp>
        <p:nvSpPr>
          <p:cNvPr id="4" name="Rounded Rectangle 3"/>
          <p:cNvSpPr/>
          <p:nvPr/>
        </p:nvSpPr>
        <p:spPr>
          <a:xfrm>
            <a:off x="7315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1. Classical PID</a:t>
            </a:r>
          </a:p>
          <a:p>
            <a:pPr>
              <a:spcAft>
                <a:spcPts val="400"/>
              </a:spcAft>
              <a:defRPr sz="1000" b="1">
                <a:solidFill>
                  <a:srgbClr val="0D9488"/>
                </a:solidFill>
              </a:defRPr>
            </a:pPr>
            <a:r>
              <a:t>[Unconstrained &amp; Reactive]</a:t>
            </a:r>
          </a:p>
          <a:p>
            <a:pPr>
              <a:spcBef>
                <a:spcPts val="400"/>
              </a:spcBef>
              <a:defRPr sz="1200">
                <a:solidFill>
                  <a:srgbClr val="1E293B"/>
                </a:solidFill>
              </a:defRPr>
            </a:pPr>
            <a:r>
              <a:t>•  Purely reactive feedback.</a:t>
            </a:r>
          </a:p>
          <a:p>
            <a:pPr>
              <a:spcBef>
                <a:spcPts val="400"/>
              </a:spcBef>
              <a:defRPr sz="1200">
                <a:solidFill>
                  <a:srgbClr val="1E293B"/>
                </a:solidFill>
              </a:defRPr>
            </a:pPr>
            <a:r>
              <a:t>•  Cannot anticipate future lead braking.</a:t>
            </a:r>
          </a:p>
          <a:p>
            <a:pPr>
              <a:spcBef>
                <a:spcPts val="400"/>
              </a:spcBef>
              <a:defRPr sz="1200">
                <a:solidFill>
                  <a:srgbClr val="1E293B"/>
                </a:solidFill>
              </a:defRPr>
            </a:pPr>
            <a:r>
              <a:t>•  Cannot handle state or input constraints explicitly.</a:t>
            </a:r>
          </a:p>
          <a:p>
            <a:pPr>
              <a:spcBef>
                <a:spcPts val="400"/>
              </a:spcBef>
              <a:defRPr sz="1200">
                <a:solidFill>
                  <a:srgbClr val="1E293B"/>
                </a:solidFill>
              </a:defRPr>
            </a:pPr>
            <a:r>
              <a:t>•  Suffers from integrator windup and sudden overshoot under hard braking.</a:t>
            </a:r>
          </a:p>
        </p:txBody>
      </p:sp>
      <p:sp>
        <p:nvSpPr>
          <p:cNvPr id="5" name="Rounded Rectangle 4"/>
          <p:cNvSpPr/>
          <p:nvPr/>
        </p:nvSpPr>
        <p:spPr>
          <a:xfrm>
            <a:off x="34747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2. Standard (Nominal) MPC</a:t>
            </a:r>
          </a:p>
          <a:p>
            <a:pPr>
              <a:spcAft>
                <a:spcPts val="400"/>
              </a:spcAft>
              <a:defRPr sz="1000" b="1">
                <a:solidFill>
                  <a:srgbClr val="0D9488"/>
                </a:solidFill>
              </a:defRPr>
            </a:pPr>
            <a:r>
              <a:t>[Zero Robustness]</a:t>
            </a:r>
          </a:p>
          <a:p>
            <a:pPr>
              <a:spcBef>
                <a:spcPts val="400"/>
              </a:spcBef>
              <a:defRPr sz="1200">
                <a:solidFill>
                  <a:srgbClr val="1E293B"/>
                </a:solidFill>
              </a:defRPr>
            </a:pPr>
            <a:r>
              <a:t>•  Predicts future trajectory over a preview horizon.</a:t>
            </a:r>
          </a:p>
          <a:p>
            <a:pPr>
              <a:spcBef>
                <a:spcPts val="400"/>
              </a:spcBef>
              <a:defRPr sz="1200">
                <a:solidFill>
                  <a:srgbClr val="1E293B"/>
                </a:solidFill>
              </a:defRPr>
            </a:pPr>
            <a:r>
              <a:t>•  Assumes a perfect disturbance-free model.</a:t>
            </a:r>
          </a:p>
          <a:p>
            <a:pPr>
              <a:spcBef>
                <a:spcPts val="400"/>
              </a:spcBef>
              <a:defRPr sz="1200">
                <a:solidFill>
                  <a:srgbClr val="1E293B"/>
                </a:solidFill>
              </a:defRPr>
            </a:pPr>
            <a:r>
              <a:t>•  Real disturbances push the actual vehicle outside constraint boundaries.</a:t>
            </a:r>
          </a:p>
          <a:p>
            <a:pPr>
              <a:spcBef>
                <a:spcPts val="400"/>
              </a:spcBef>
              <a:defRPr sz="1200">
                <a:solidFill>
                  <a:srgbClr val="1E293B"/>
                </a:solidFill>
              </a:defRPr>
            </a:pPr>
            <a:r>
              <a:t>•  Risk of rear-end collision in extreme cases.</a:t>
            </a:r>
          </a:p>
        </p:txBody>
      </p:sp>
      <p:sp>
        <p:nvSpPr>
          <p:cNvPr id="6" name="Rounded Rectangle 5"/>
          <p:cNvSpPr/>
          <p:nvPr/>
        </p:nvSpPr>
        <p:spPr>
          <a:xfrm>
            <a:off x="62179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3. Static Robust MPC</a:t>
            </a:r>
          </a:p>
          <a:p>
            <a:pPr>
              <a:spcAft>
                <a:spcPts val="400"/>
              </a:spcAft>
              <a:defRPr sz="1000" b="1">
                <a:solidFill>
                  <a:srgbClr val="0D9488"/>
                </a:solidFill>
              </a:defRPr>
            </a:pPr>
            <a:r>
              <a:t>[Overly Conservative]</a:t>
            </a:r>
          </a:p>
          <a:p>
            <a:pPr>
              <a:spcBef>
                <a:spcPts val="400"/>
              </a:spcBef>
              <a:defRPr sz="1200">
                <a:solidFill>
                  <a:srgbClr val="1E293B"/>
                </a:solidFill>
              </a:defRPr>
            </a:pPr>
            <a:r>
              <a:t>•  Assumes maximum worst-case disturbance everywhere.</a:t>
            </a:r>
          </a:p>
          <a:p>
            <a:pPr>
              <a:spcBef>
                <a:spcPts val="400"/>
              </a:spcBef>
              <a:defRPr sz="1200">
                <a:solidFill>
                  <a:srgbClr val="1E293B"/>
                </a:solidFill>
              </a:defRPr>
            </a:pPr>
            <a:r>
              <a:t>•  Over-tightens constraints statically.</a:t>
            </a:r>
          </a:p>
          <a:p>
            <a:pPr>
              <a:spcBef>
                <a:spcPts val="400"/>
              </a:spcBef>
              <a:defRPr sz="1200">
                <a:solidFill>
                  <a:srgbClr val="1E293B"/>
                </a:solidFill>
              </a:defRPr>
            </a:pPr>
            <a:r>
              <a:t>•  Feasible control set collapses under hard braking.</a:t>
            </a:r>
          </a:p>
          <a:p>
            <a:pPr>
              <a:spcBef>
                <a:spcPts val="400"/>
              </a:spcBef>
              <a:defRPr sz="1200">
                <a:solidFill>
                  <a:srgbClr val="1E293B"/>
                </a:solidFill>
              </a:defRPr>
            </a:pPr>
            <a:r>
              <a:t>•  Causes QP solver failure (66.7% failure in Variant C!).</a:t>
            </a:r>
          </a:p>
        </p:txBody>
      </p:sp>
      <p:sp>
        <p:nvSpPr>
          <p:cNvPr id="7" name="Rounded Rectangle 6"/>
          <p:cNvSpPr/>
          <p:nvPr/>
        </p:nvSpPr>
        <p:spPr>
          <a:xfrm>
            <a:off x="8961120" y="1463040"/>
            <a:ext cx="2468880" cy="466344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4. Step-0 Slew Trap</a:t>
            </a:r>
          </a:p>
          <a:p>
            <a:pPr>
              <a:spcAft>
                <a:spcPts val="400"/>
              </a:spcAft>
              <a:defRPr sz="1000" b="1">
                <a:solidFill>
                  <a:srgbClr val="0D9488"/>
                </a:solidFill>
              </a:defRPr>
            </a:pPr>
            <a:r>
              <a:t>[Critical Design Flaw]</a:t>
            </a:r>
          </a:p>
          <a:p>
            <a:pPr>
              <a:spcBef>
                <a:spcPts val="400"/>
              </a:spcBef>
              <a:defRPr sz="1200">
                <a:solidFill>
                  <a:srgbClr val="1E293B"/>
                </a:solidFill>
              </a:defRPr>
            </a:pPr>
            <a:r>
              <a:t>•  Standard MPC constrains future steps (u_1 - u_0).</a:t>
            </a:r>
          </a:p>
          <a:p>
            <a:pPr>
              <a:spcBef>
                <a:spcPts val="400"/>
              </a:spcBef>
              <a:defRPr sz="1200">
                <a:solidFill>
                  <a:srgbClr val="1E293B"/>
                </a:solidFill>
              </a:defRPr>
            </a:pPr>
            <a:r>
              <a:t>•  Neglects the jump from previous applied input u(t-1) to u_0.</a:t>
            </a:r>
          </a:p>
          <a:p>
            <a:pPr>
              <a:spcBef>
                <a:spcPts val="400"/>
              </a:spcBef>
              <a:defRPr sz="1200">
                <a:solidFill>
                  <a:srgbClr val="1E293B"/>
                </a:solidFill>
              </a:defRPr>
            </a:pPr>
            <a:r>
              <a:t>•  Causes +141.6% slew rate violation in baseline controllers!</a:t>
            </a:r>
          </a:p>
          <a:p>
            <a:pPr>
              <a:spcBef>
                <a:spcPts val="400"/>
              </a:spcBef>
              <a:defRPr sz="1200">
                <a:solidFill>
                  <a:srgbClr val="1E293B"/>
                </a:solidFill>
              </a:defRPr>
            </a:pPr>
            <a:r>
              <a:t>•  Damages actuators and creates passenger whiplash.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0D9488"/>
                </a:solidFill>
              </a:defRPr>
            </a:pPr>
            <a:r>
              <a:t>OPTIMIZATION-BASED CONTROL</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F172A"/>
                </a:solidFill>
              </a:defRPr>
            </a:pPr>
            <a:r>
              <a:t>What is Model Predictive Control (MPC)?</a:t>
            </a:r>
          </a:p>
        </p:txBody>
      </p:sp>
      <p:sp>
        <p:nvSpPr>
          <p:cNvPr id="4" name="Rounded Rectangle 3"/>
          <p:cNvSpPr/>
          <p:nvPr/>
        </p:nvSpPr>
        <p:spPr>
          <a:xfrm>
            <a:off x="731520" y="1463040"/>
            <a:ext cx="329184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1. Predict the Future</a:t>
            </a:r>
          </a:p>
          <a:p>
            <a:pPr>
              <a:spcAft>
                <a:spcPts val="400"/>
              </a:spcAft>
              <a:defRPr sz="1000" b="1">
                <a:solidFill>
                  <a:srgbClr val="0D9488"/>
                </a:solidFill>
              </a:defRPr>
            </a:pPr>
            <a:r>
              <a:t>[Prediction Horizon N = 6]</a:t>
            </a:r>
          </a:p>
          <a:p>
            <a:pPr>
              <a:spcBef>
                <a:spcPts val="400"/>
              </a:spcBef>
              <a:defRPr sz="1200">
                <a:solidFill>
                  <a:srgbClr val="1E293B"/>
                </a:solidFill>
              </a:defRPr>
            </a:pPr>
            <a:r>
              <a:t>•  Uses the internal vehicle model to predict states over horizon N = 6 steps.</a:t>
            </a:r>
          </a:p>
          <a:p>
            <a:pPr>
              <a:spcBef>
                <a:spcPts val="400"/>
              </a:spcBef>
              <a:defRPr sz="1200">
                <a:solidFill>
                  <a:srgbClr val="1E293B"/>
                </a:solidFill>
              </a:defRPr>
            </a:pPr>
            <a:r>
              <a:t>•  Preview window = 0.6 seconds (at T_s = 0.1 s).</a:t>
            </a:r>
          </a:p>
          <a:p>
            <a:pPr>
              <a:spcBef>
                <a:spcPts val="400"/>
              </a:spcBef>
              <a:defRPr sz="1200">
                <a:solidFill>
                  <a:srgbClr val="1E293B"/>
                </a:solidFill>
              </a:defRPr>
            </a:pPr>
            <a:r>
              <a:t>•  Anticipates lead vehicle distance, velocity error, and acceleration trends.</a:t>
            </a:r>
          </a:p>
          <a:p>
            <a:pPr>
              <a:spcBef>
                <a:spcPts val="400"/>
              </a:spcBef>
              <a:defRPr sz="1200">
                <a:solidFill>
                  <a:srgbClr val="1E293B"/>
                </a:solidFill>
              </a:defRPr>
            </a:pPr>
            <a:r>
              <a:t>•  Analogy: Like a driver looking ahead down the road rather than just at the bumper.</a:t>
            </a:r>
          </a:p>
        </p:txBody>
      </p:sp>
      <p:sp>
        <p:nvSpPr>
          <p:cNvPr id="5" name="Rounded Rectangle 4"/>
          <p:cNvSpPr/>
          <p:nvPr/>
        </p:nvSpPr>
        <p:spPr>
          <a:xfrm>
            <a:off x="4389120" y="1463040"/>
            <a:ext cx="329184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2. Optimize in Real-Time</a:t>
            </a:r>
          </a:p>
          <a:p>
            <a:pPr>
              <a:spcAft>
                <a:spcPts val="400"/>
              </a:spcAft>
              <a:defRPr sz="1000" b="1">
                <a:solidFill>
                  <a:srgbClr val="0D9488"/>
                </a:solidFill>
              </a:defRPr>
            </a:pPr>
            <a:r>
              <a:t>[Constrained QP Optimization]</a:t>
            </a:r>
          </a:p>
          <a:p>
            <a:pPr>
              <a:spcBef>
                <a:spcPts val="400"/>
              </a:spcBef>
              <a:defRPr sz="1200">
                <a:solidFill>
                  <a:srgbClr val="1E293B"/>
                </a:solidFill>
              </a:defRPr>
            </a:pPr>
            <a:r>
              <a:t>•  Formulates a Quadratic Program (QP) at every sample time T_s = 100 ms:</a:t>
            </a:r>
          </a:p>
          <a:p>
            <a:pPr>
              <a:spcBef>
                <a:spcPts val="400"/>
              </a:spcBef>
              <a:defRPr sz="1200">
                <a:solidFill>
                  <a:srgbClr val="1E293B"/>
                </a:solidFill>
              </a:defRPr>
            </a:pPr>
            <a:r>
              <a:t>•  min J = ∑ (x_k^T Q x_k + u_k^T R u_k + Δu_k^T R_Δ Δu_k)</a:t>
            </a:r>
          </a:p>
          <a:p>
            <a:pPr>
              <a:spcBef>
                <a:spcPts val="400"/>
              </a:spcBef>
              <a:defRPr sz="1200">
                <a:solidFill>
                  <a:srgbClr val="1E293B"/>
                </a:solidFill>
              </a:defRPr>
            </a:pPr>
            <a:r>
              <a:t>•  Subject to:</a:t>
            </a:r>
          </a:p>
          <a:p>
            <a:pPr>
              <a:spcBef>
                <a:spcPts val="400"/>
              </a:spcBef>
              <a:defRPr sz="1200">
                <a:solidFill>
                  <a:srgbClr val="1E293B"/>
                </a:solidFill>
              </a:defRPr>
            </a:pPr>
            <a:r>
              <a:t>•  • Distance gap bounds (d ≥ d_0)</a:t>
            </a:r>
          </a:p>
          <a:p>
            <a:pPr>
              <a:spcBef>
                <a:spcPts val="400"/>
              </a:spcBef>
              <a:defRPr sz="1200">
                <a:solidFill>
                  <a:srgbClr val="1E293B"/>
                </a:solidFill>
              </a:defRPr>
            </a:pPr>
            <a:r>
              <a:t>•  • Velocity limits (0 ≤ v ≤ v_max)</a:t>
            </a:r>
          </a:p>
          <a:p>
            <a:pPr>
              <a:spcBef>
                <a:spcPts val="400"/>
              </a:spcBef>
              <a:defRPr sz="1200">
                <a:solidFill>
                  <a:srgbClr val="1E293B"/>
                </a:solidFill>
              </a:defRPr>
            </a:pPr>
            <a:r>
              <a:t>•  • Acceleration limits (a_min ≤ a ≤ a_max)</a:t>
            </a:r>
          </a:p>
          <a:p>
            <a:pPr>
              <a:spcBef>
                <a:spcPts val="400"/>
              </a:spcBef>
              <a:defRPr sz="1200">
                <a:solidFill>
                  <a:srgbClr val="1E293B"/>
                </a:solidFill>
              </a:defRPr>
            </a:pPr>
            <a:r>
              <a:t>•  • Slew rate limits (|Δu| ≤ Δu_max)</a:t>
            </a:r>
          </a:p>
        </p:txBody>
      </p:sp>
      <p:sp>
        <p:nvSpPr>
          <p:cNvPr id="6" name="Rounded Rectangle 5"/>
          <p:cNvSpPr/>
          <p:nvPr/>
        </p:nvSpPr>
        <p:spPr>
          <a:xfrm>
            <a:off x="8046720" y="1463040"/>
            <a:ext cx="33832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3. Apply &amp; Recede</a:t>
            </a:r>
          </a:p>
          <a:p>
            <a:pPr>
              <a:spcAft>
                <a:spcPts val="400"/>
              </a:spcAft>
              <a:defRPr sz="1000" b="1">
                <a:solidFill>
                  <a:srgbClr val="0D9488"/>
                </a:solidFill>
              </a:defRPr>
            </a:pPr>
            <a:r>
              <a:t>[Receding Horizon Feedback]</a:t>
            </a:r>
          </a:p>
          <a:p>
            <a:pPr>
              <a:spcBef>
                <a:spcPts val="400"/>
              </a:spcBef>
              <a:defRPr sz="1200">
                <a:solidFill>
                  <a:srgbClr val="1E293B"/>
                </a:solidFill>
              </a:defRPr>
            </a:pPr>
            <a:r>
              <a:t>•  Receding Horizon Principle:</a:t>
            </a:r>
          </a:p>
          <a:p>
            <a:pPr>
              <a:spcBef>
                <a:spcPts val="400"/>
              </a:spcBef>
              <a:defRPr sz="1200">
                <a:solidFill>
                  <a:srgbClr val="1E293B"/>
                </a:solidFill>
              </a:defRPr>
            </a:pPr>
            <a:r>
              <a:t>•  Only the first optimal input u_0* is applied to the vehicle actuators.</a:t>
            </a:r>
          </a:p>
          <a:p>
            <a:pPr>
              <a:spcBef>
                <a:spcPts val="400"/>
              </a:spcBef>
              <a:defRPr sz="1200">
                <a:solidFill>
                  <a:srgbClr val="1E293B"/>
                </a:solidFill>
              </a:defRPr>
            </a:pPr>
            <a:r>
              <a:t>•  Remaining predicted steps (u_1*, ..., u_{N-1}*) are discarded.</a:t>
            </a:r>
          </a:p>
          <a:p>
            <a:pPr>
              <a:spcBef>
                <a:spcPts val="400"/>
              </a:spcBef>
              <a:defRPr sz="1200">
                <a:solidFill>
                  <a:srgbClr val="1E293B"/>
                </a:solidFill>
              </a:defRPr>
            </a:pPr>
            <a:r>
              <a:t>•  At next time step (100 ms later), new sensor measurements are read.</a:t>
            </a:r>
          </a:p>
          <a:p>
            <a:pPr>
              <a:spcBef>
                <a:spcPts val="400"/>
              </a:spcBef>
              <a:defRPr sz="1200">
                <a:solidFill>
                  <a:srgbClr val="1E293B"/>
                </a:solidFill>
              </a:defRPr>
            </a:pPr>
            <a:r>
              <a:t>•  Horizon shifts forward by one step, and the QP is solved again.</a:t>
            </a:r>
          </a:p>
          <a:p>
            <a:pPr>
              <a:spcBef>
                <a:spcPts val="400"/>
              </a:spcBef>
              <a:defRPr sz="1200">
                <a:solidFill>
                  <a:srgbClr val="1E293B"/>
                </a:solidFill>
              </a:defRPr>
            </a:pPr>
            <a:r>
              <a:t>•  Combines optimal feedforward planning with continuous feedback.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0D9488"/>
                </a:solidFill>
              </a:defRPr>
            </a:pPr>
            <a:r>
              <a:t>ROBUST CONTROL METHODOLOGY</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F172A"/>
                </a:solidFill>
              </a:defRPr>
            </a:pPr>
            <a:r>
              <a:t>What is Robust Tube MPC?</a:t>
            </a:r>
          </a:p>
        </p:txBody>
      </p:sp>
      <p:sp>
        <p:nvSpPr>
          <p:cNvPr id="4" name="Rounded Rectangle 3"/>
          <p:cNvSpPr/>
          <p:nvPr/>
        </p:nvSpPr>
        <p:spPr>
          <a:xfrm>
            <a:off x="731520" y="1463040"/>
            <a:ext cx="329184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Two Cooperating Controllers</a:t>
            </a:r>
          </a:p>
          <a:p>
            <a:pPr>
              <a:spcAft>
                <a:spcPts val="400"/>
              </a:spcAft>
              <a:defRPr sz="1000" b="1">
                <a:solidFill>
                  <a:srgbClr val="0D9488"/>
                </a:solidFill>
              </a:defRPr>
            </a:pPr>
            <a:r>
              <a:t>[Decoupled Control Architecture]</a:t>
            </a:r>
          </a:p>
          <a:p>
            <a:pPr>
              <a:spcBef>
                <a:spcPts val="400"/>
              </a:spcBef>
              <a:defRPr sz="1200">
                <a:solidFill>
                  <a:srgbClr val="1E293B"/>
                </a:solidFill>
              </a:defRPr>
            </a:pPr>
            <a:r>
              <a:t>•  1. Nominal Controller (z, v):</a:t>
            </a:r>
          </a:p>
          <a:p>
            <a:pPr>
              <a:spcBef>
                <a:spcPts val="400"/>
              </a:spcBef>
              <a:defRPr sz="1200">
                <a:solidFill>
                  <a:srgbClr val="1E293B"/>
                </a:solidFill>
              </a:defRPr>
            </a:pPr>
            <a:r>
              <a:t>•  Solves an ideal disturbance-free QP for a virtual 'nominal car' z(t).</a:t>
            </a:r>
          </a:p>
          <a:p>
            <a:pPr>
              <a:spcBef>
                <a:spcPts val="400"/>
              </a:spcBef>
              <a:defRPr sz="1200">
                <a:solidFill>
                  <a:srgbClr val="1E293B"/>
                </a:solidFill>
              </a:defRPr>
            </a:pPr>
            <a:r>
              <a:t>•  Plans optimal trajectory using tightened constraint sets.</a:t>
            </a:r>
          </a:p>
          <a:p>
            <a:pPr>
              <a:spcBef>
                <a:spcPts val="400"/>
              </a:spcBef>
              <a:defRPr sz="1200">
                <a:solidFill>
                  <a:srgbClr val="1E293B"/>
                </a:solidFill>
              </a:defRPr>
            </a:pPr>
            <a:r>
              <a:t>•  </a:t>
            </a:r>
          </a:p>
          <a:p>
            <a:pPr>
              <a:spcBef>
                <a:spcPts val="400"/>
              </a:spcBef>
              <a:defRPr sz="1200">
                <a:solidFill>
                  <a:srgbClr val="1E293B"/>
                </a:solidFill>
              </a:defRPr>
            </a:pPr>
            <a:r>
              <a:t>•  2. Ancillary Controller (K_opt):</a:t>
            </a:r>
          </a:p>
          <a:p>
            <a:pPr>
              <a:spcBef>
                <a:spcPts val="400"/>
              </a:spcBef>
              <a:defRPr sz="1200">
                <a:solidFill>
                  <a:srgbClr val="1E293B"/>
                </a:solidFill>
              </a:defRPr>
            </a:pPr>
            <a:r>
              <a:t>•  High-speed feedback law: u_anc = K_opt · (x(t) - z(t)).</a:t>
            </a:r>
          </a:p>
          <a:p>
            <a:pPr>
              <a:spcBef>
                <a:spcPts val="400"/>
              </a:spcBef>
              <a:defRPr sz="1200">
                <a:solidFill>
                  <a:srgbClr val="1E293B"/>
                </a:solidFill>
              </a:defRPr>
            </a:pPr>
            <a:r>
              <a:t>•  Acts like a virtual spring pulling the real disturbed vehicle x(t) toward the nominal path.</a:t>
            </a:r>
          </a:p>
        </p:txBody>
      </p:sp>
      <p:sp>
        <p:nvSpPr>
          <p:cNvPr id="5" name="Rounded Rectangle 4"/>
          <p:cNvSpPr/>
          <p:nvPr/>
        </p:nvSpPr>
        <p:spPr>
          <a:xfrm>
            <a:off x="4389120" y="1463040"/>
            <a:ext cx="329184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The Invariant Tube</a:t>
            </a:r>
          </a:p>
          <a:p>
            <a:pPr>
              <a:spcAft>
                <a:spcPts val="400"/>
              </a:spcAft>
              <a:defRPr sz="1000" b="1">
                <a:solidFill>
                  <a:srgbClr val="0D9488"/>
                </a:solidFill>
              </a:defRPr>
            </a:pPr>
            <a:r>
              <a:t>[Bounded Uncertainty Envelope]</a:t>
            </a:r>
          </a:p>
          <a:p>
            <a:pPr>
              <a:spcBef>
                <a:spcPts val="400"/>
              </a:spcBef>
              <a:defRPr sz="1200">
                <a:solidFill>
                  <a:srgbClr val="1E293B"/>
                </a:solidFill>
              </a:defRPr>
            </a:pPr>
            <a:r>
              <a:t>•  Error dynamics: e(k+1) = (A + B K) e(k) + w(k).</a:t>
            </a:r>
          </a:p>
          <a:p>
            <a:pPr>
              <a:spcBef>
                <a:spcPts val="400"/>
              </a:spcBef>
              <a:defRPr sz="1200">
                <a:solidFill>
                  <a:srgbClr val="1E293B"/>
                </a:solidFill>
              </a:defRPr>
            </a:pPr>
            <a:r>
              <a:t>•  The error between real and nominal car is proven to stay bounded inside an invariant set E:</a:t>
            </a:r>
          </a:p>
          <a:p>
            <a:pPr>
              <a:spcBef>
                <a:spcPts val="400"/>
              </a:spcBef>
              <a:defRPr sz="1200">
                <a:solidFill>
                  <a:srgbClr val="1E293B"/>
                </a:solidFill>
              </a:defRPr>
            </a:pPr>
            <a:r>
              <a:t>•  e(t) = x(t) - z(t) ∈ E,  ∀ t ≥ 0.</a:t>
            </a:r>
          </a:p>
          <a:p>
            <a:pPr>
              <a:spcBef>
                <a:spcPts val="400"/>
              </a:spcBef>
              <a:defRPr sz="1200">
                <a:solidFill>
                  <a:srgbClr val="1E293B"/>
                </a:solidFill>
              </a:defRPr>
            </a:pPr>
            <a:r>
              <a:t>•  This set forms a virtual geometric 'tube' around the planned nominal trajectory.</a:t>
            </a:r>
          </a:p>
          <a:p>
            <a:pPr>
              <a:spcBef>
                <a:spcPts val="400"/>
              </a:spcBef>
              <a:defRPr sz="1200">
                <a:solidFill>
                  <a:srgbClr val="1E293B"/>
                </a:solidFill>
              </a:defRPr>
            </a:pPr>
            <a:r>
              <a:t>•  Real vehicle trajectory is mathematically guaranteed to stay inside this tube.</a:t>
            </a:r>
          </a:p>
        </p:txBody>
      </p:sp>
      <p:sp>
        <p:nvSpPr>
          <p:cNvPr id="6" name="Rounded Rectangle 5"/>
          <p:cNvSpPr/>
          <p:nvPr/>
        </p:nvSpPr>
        <p:spPr>
          <a:xfrm>
            <a:off x="8046720" y="1463040"/>
            <a:ext cx="33832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Constraint Tightening</a:t>
            </a:r>
          </a:p>
          <a:p>
            <a:pPr>
              <a:spcAft>
                <a:spcPts val="400"/>
              </a:spcAft>
              <a:defRPr sz="1000" b="1">
                <a:solidFill>
                  <a:srgbClr val="0D9488"/>
                </a:solidFill>
              </a:defRPr>
            </a:pPr>
            <a:r>
              <a:t>[Mathematical Safety Guarantee]</a:t>
            </a:r>
          </a:p>
          <a:p>
            <a:pPr>
              <a:spcBef>
                <a:spcPts val="400"/>
              </a:spcBef>
              <a:defRPr sz="1200">
                <a:solidFill>
                  <a:srgbClr val="1E293B"/>
                </a:solidFill>
              </a:defRPr>
            </a:pPr>
            <a:r>
              <a:t>•  Physical vehicle constraints: X and U.</a:t>
            </a:r>
          </a:p>
          <a:p>
            <a:pPr>
              <a:spcBef>
                <a:spcPts val="400"/>
              </a:spcBef>
              <a:defRPr sz="1200">
                <a:solidFill>
                  <a:srgbClr val="1E293B"/>
                </a:solidFill>
              </a:defRPr>
            </a:pPr>
            <a:r>
              <a:t>•  Tightened nominal constraints: Z = X ⊖ E and V = U ⊖ K·E.</a:t>
            </a:r>
          </a:p>
          <a:p>
            <a:pPr>
              <a:spcBef>
                <a:spcPts val="400"/>
              </a:spcBef>
              <a:defRPr sz="1200">
                <a:solidFill>
                  <a:srgbClr val="1E293B"/>
                </a:solidFill>
              </a:defRPr>
            </a:pPr>
            <a:r>
              <a:t>•  Minkowski set difference subtracts the tube cross-section from physical limits.</a:t>
            </a:r>
          </a:p>
          <a:p>
            <a:pPr>
              <a:spcBef>
                <a:spcPts val="400"/>
              </a:spcBef>
              <a:defRPr sz="1200">
                <a:solidFill>
                  <a:srgbClr val="1E293B"/>
                </a:solidFill>
              </a:defRPr>
            </a:pPr>
            <a:r>
              <a:t>•  Core Guarantee: If the nominal trajectory satisfies tightened constraints, the actual vehicle will NEVER violate physical limits under any bounded disturbance!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0D9488"/>
                </a:solidFill>
              </a:defRPr>
            </a:pPr>
            <a:r>
              <a:t>CORE RESEARCH CONTRIBUTIONS</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F172A"/>
                </a:solidFill>
              </a:defRPr>
            </a:pPr>
            <a:r>
              <a:t>Proposed Method: Three Key Innovations</a:t>
            </a:r>
          </a:p>
        </p:txBody>
      </p:sp>
      <p:sp>
        <p:nvSpPr>
          <p:cNvPr id="4" name="Rounded Rectangle 3"/>
          <p:cNvSpPr/>
          <p:nvPr/>
        </p:nvSpPr>
        <p:spPr>
          <a:xfrm>
            <a:off x="731520" y="1463040"/>
            <a:ext cx="3291840" cy="466344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Innovation 1: Trajectory Propagation</a:t>
            </a:r>
          </a:p>
          <a:p>
            <a:pPr>
              <a:spcAft>
                <a:spcPts val="400"/>
              </a:spcAft>
              <a:defRPr sz="1000" b="1">
                <a:solidFill>
                  <a:srgbClr val="0D9488"/>
                </a:solidFill>
              </a:defRPr>
            </a:pPr>
            <a:r>
              <a:t>[Prevents Tube Collapse]</a:t>
            </a:r>
          </a:p>
          <a:p>
            <a:pPr>
              <a:spcBef>
                <a:spcPts val="400"/>
              </a:spcBef>
              <a:defRPr sz="1200">
                <a:solidFill>
                  <a:srgbClr val="1E293B"/>
                </a:solidFill>
              </a:defRPr>
            </a:pPr>
            <a:r>
              <a:t>•  Problem: Static tube bounding assumes worst-case disturbance everywhere, collapsing constraint width to -1.60 m/s².</a:t>
            </a:r>
          </a:p>
          <a:p>
            <a:pPr>
              <a:spcBef>
                <a:spcPts val="400"/>
              </a:spcBef>
              <a:defRPr sz="1200">
                <a:solidFill>
                  <a:srgbClr val="1E293B"/>
                </a:solidFill>
              </a:defRPr>
            </a:pPr>
            <a:r>
              <a:t>•  Solution: Uncertainty cross-section σ(k) is propagated dynamically along the scheduled nominal acceleration trajectory z_u.</a:t>
            </a:r>
          </a:p>
          <a:p>
            <a:pPr>
              <a:spcBef>
                <a:spcPts val="400"/>
              </a:spcBef>
              <a:defRPr sz="1200">
                <a:solidFill>
                  <a:srgbClr val="1E293B"/>
                </a:solidFill>
              </a:defRPr>
            </a:pPr>
            <a:r>
              <a:t>•  Result: Keeps constraint window open (w_min = +0.20 m/s²), restoring 100% feasibility in emergency braking.</a:t>
            </a:r>
          </a:p>
        </p:txBody>
      </p:sp>
      <p:sp>
        <p:nvSpPr>
          <p:cNvPr id="5" name="Rounded Rectangle 4"/>
          <p:cNvSpPr/>
          <p:nvPr/>
        </p:nvSpPr>
        <p:spPr>
          <a:xfrm>
            <a:off x="4389120" y="1463040"/>
            <a:ext cx="3291840" cy="466344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Innovation 2: Step-0 Conditioning</a:t>
            </a:r>
          </a:p>
          <a:p>
            <a:pPr>
              <a:spcAft>
                <a:spcPts val="400"/>
              </a:spcAft>
              <a:defRPr sz="1000" b="1">
                <a:solidFill>
                  <a:srgbClr val="0D9488"/>
                </a:solidFill>
              </a:defRPr>
            </a:pPr>
            <a:r>
              <a:t>[Theorem 2 Guarantee]</a:t>
            </a:r>
          </a:p>
          <a:p>
            <a:pPr>
              <a:spcBef>
                <a:spcPts val="400"/>
              </a:spcBef>
              <a:defRPr sz="1200">
                <a:solidFill>
                  <a:srgbClr val="1E293B"/>
                </a:solidFill>
              </a:defRPr>
            </a:pPr>
            <a:r>
              <a:t>•  Problem: Baseline controllers jump instantly from previous applied input u(t-1) to u_0, violating slew rates by +141.6%.</a:t>
            </a:r>
          </a:p>
          <a:p>
            <a:pPr>
              <a:spcBef>
                <a:spcPts val="400"/>
              </a:spcBef>
              <a:defRPr sz="1200">
                <a:solidFill>
                  <a:srgbClr val="1E293B"/>
                </a:solidFill>
              </a:defRPr>
            </a:pPr>
            <a:r>
              <a:t>•  Solution: Theorem 2 enforces direct rate conditioning on the first step: |u_0(t) - u(t-1)| ≤ Δu_max.</a:t>
            </a:r>
          </a:p>
          <a:p>
            <a:pPr>
              <a:spcBef>
                <a:spcPts val="400"/>
              </a:spcBef>
              <a:defRPr sz="1200">
                <a:solidFill>
                  <a:srgbClr val="1E293B"/>
                </a:solidFill>
              </a:defRPr>
            </a:pPr>
            <a:r>
              <a:t>•  Result: Completely eliminates slew rate violations (0.3539 m/s² → 0.0000 m/s²).</a:t>
            </a:r>
          </a:p>
        </p:txBody>
      </p:sp>
      <p:sp>
        <p:nvSpPr>
          <p:cNvPr id="6" name="Rounded Rectangle 5"/>
          <p:cNvSpPr/>
          <p:nvPr/>
        </p:nvSpPr>
        <p:spPr>
          <a:xfrm>
            <a:off x="8046720" y="1463040"/>
            <a:ext cx="3383280" cy="466344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Innovation 3: LMI-Certified Gain</a:t>
            </a:r>
          </a:p>
          <a:p>
            <a:pPr>
              <a:spcAft>
                <a:spcPts val="400"/>
              </a:spcAft>
              <a:defRPr sz="1000" b="1">
                <a:solidFill>
                  <a:srgbClr val="0D9488"/>
                </a:solidFill>
              </a:defRPr>
            </a:pPr>
            <a:r>
              <a:t>[LMI Certified Stability]</a:t>
            </a:r>
          </a:p>
          <a:p>
            <a:pPr>
              <a:spcBef>
                <a:spcPts val="400"/>
              </a:spcBef>
              <a:defRPr sz="1200">
                <a:solidFill>
                  <a:srgbClr val="1E293B"/>
                </a:solidFill>
              </a:defRPr>
            </a:pPr>
            <a:r>
              <a:t>•  Problem: Literature ancillary gains produce sluggish response or conservative disturbance envelopes.</a:t>
            </a:r>
          </a:p>
          <a:p>
            <a:pPr>
              <a:spcBef>
                <a:spcPts val="400"/>
              </a:spcBef>
              <a:defRPr sz="1200">
                <a:solidFill>
                  <a:srgbClr val="1E293B"/>
                </a:solidFill>
              </a:defRPr>
            </a:pPr>
            <a:r>
              <a:t>•  Solution: Synthesized optimal gain K_opt via discrete LQR (Q=diag(100,50,10), R=50).</a:t>
            </a:r>
          </a:p>
          <a:p>
            <a:pPr>
              <a:spcBef>
                <a:spcPts val="400"/>
              </a:spcBef>
              <a:defRPr sz="1200">
                <a:solidFill>
                  <a:srgbClr val="1E293B"/>
                </a:solidFill>
              </a:defRPr>
            </a:pPr>
            <a:r>
              <a:t>•  Certified contractive stability with decay rate ρ = 0.9560 via Lyapunov Linear Matrix Inequalities (LMIs).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0D9488"/>
                </a:solidFill>
              </a:defRPr>
            </a:pPr>
            <a:r>
              <a:t>REAL-TIME EMBEDDED IMPLEMENTATION</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F172A"/>
                </a:solidFill>
              </a:defRPr>
            </a:pPr>
            <a:r>
              <a:t>System Architecture &amp; Real-Time Data Flow</a:t>
            </a:r>
          </a:p>
        </p:txBody>
      </p:sp>
      <p:sp>
        <p:nvSpPr>
          <p:cNvPr id="4" name="Rounded Rectangle 3"/>
          <p:cNvSpPr/>
          <p:nvPr/>
        </p:nvSpPr>
        <p:spPr>
          <a:xfrm>
            <a:off x="731520" y="1463040"/>
            <a:ext cx="20116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1. Vehicle Sensors</a:t>
            </a:r>
          </a:p>
          <a:p>
            <a:pPr>
              <a:spcAft>
                <a:spcPts val="400"/>
              </a:spcAft>
              <a:defRPr sz="1000" b="1">
                <a:solidFill>
                  <a:srgbClr val="0D9488"/>
                </a:solidFill>
              </a:defRPr>
            </a:pPr>
            <a:r>
              <a:t>[Input Stage]</a:t>
            </a:r>
          </a:p>
          <a:p>
            <a:pPr>
              <a:spcBef>
                <a:spcPts val="400"/>
              </a:spcBef>
              <a:defRPr sz="1200">
                <a:solidFill>
                  <a:srgbClr val="1E293B"/>
                </a:solidFill>
              </a:defRPr>
            </a:pPr>
            <a:r>
              <a:t>•  Radar / LiDAR: distance d(t) and speed v_rel(t).</a:t>
            </a:r>
          </a:p>
          <a:p>
            <a:pPr>
              <a:spcBef>
                <a:spcPts val="400"/>
              </a:spcBef>
              <a:defRPr sz="1200">
                <a:solidFill>
                  <a:srgbClr val="1E293B"/>
                </a:solidFill>
              </a:defRPr>
            </a:pPr>
            <a:r>
              <a:t>•  Wheel speed sensors: ego velocity v_ego(t).</a:t>
            </a:r>
          </a:p>
          <a:p>
            <a:pPr>
              <a:spcBef>
                <a:spcPts val="400"/>
              </a:spcBef>
              <a:defRPr sz="1200">
                <a:solidFill>
                  <a:srgbClr val="1E293B"/>
                </a:solidFill>
              </a:defRPr>
            </a:pPr>
            <a:r>
              <a:t>•  CAN Bus transmission at 100 Hz.</a:t>
            </a:r>
          </a:p>
        </p:txBody>
      </p:sp>
      <p:sp>
        <p:nvSpPr>
          <p:cNvPr id="5" name="Rounded Rectangle 4"/>
          <p:cNvSpPr/>
          <p:nvPr/>
        </p:nvSpPr>
        <p:spPr>
          <a:xfrm>
            <a:off x="2926080" y="1463040"/>
            <a:ext cx="20116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2. State &amp; Tube</a:t>
            </a:r>
          </a:p>
          <a:p>
            <a:pPr>
              <a:spcAft>
                <a:spcPts val="400"/>
              </a:spcAft>
              <a:defRPr sz="1000" b="1">
                <a:solidFill>
                  <a:srgbClr val="0D9488"/>
                </a:solidFill>
              </a:defRPr>
            </a:pPr>
            <a:r>
              <a:t>[Online Geometry]</a:t>
            </a:r>
          </a:p>
          <a:p>
            <a:pPr>
              <a:spcBef>
                <a:spcPts val="400"/>
              </a:spcBef>
              <a:defRPr sz="1200">
                <a:solidFill>
                  <a:srgbClr val="1E293B"/>
                </a:solidFill>
              </a:defRPr>
            </a:pPr>
            <a:r>
              <a:t>•  Computes state tracking error x(t) = [e_d, e_v, a_ego]^T.</a:t>
            </a:r>
          </a:p>
          <a:p>
            <a:pPr>
              <a:spcBef>
                <a:spcPts val="400"/>
              </a:spcBef>
              <a:defRPr sz="1200">
                <a:solidFill>
                  <a:srgbClr val="1E293B"/>
                </a:solidFill>
              </a:defRPr>
            </a:pPr>
            <a:r>
              <a:t>•  Calculates dynamic tube cross-section σ(k).</a:t>
            </a:r>
          </a:p>
          <a:p>
            <a:pPr>
              <a:spcBef>
                <a:spcPts val="400"/>
              </a:spcBef>
              <a:defRPr sz="1200">
                <a:solidFill>
                  <a:srgbClr val="1E293B"/>
                </a:solidFill>
              </a:defRPr>
            </a:pPr>
            <a:r>
              <a:t>•  Formulates tightened constraint sets Z and V.</a:t>
            </a:r>
          </a:p>
        </p:txBody>
      </p:sp>
      <p:sp>
        <p:nvSpPr>
          <p:cNvPr id="6" name="Rounded Rectangle 5"/>
          <p:cNvSpPr/>
          <p:nvPr/>
        </p:nvSpPr>
        <p:spPr>
          <a:xfrm>
            <a:off x="5120640" y="1463040"/>
            <a:ext cx="20116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3. QP Solver</a:t>
            </a:r>
          </a:p>
          <a:p>
            <a:pPr>
              <a:spcAft>
                <a:spcPts val="400"/>
              </a:spcAft>
              <a:defRPr sz="1000" b="1">
                <a:solidFill>
                  <a:srgbClr val="0D9488"/>
                </a:solidFill>
              </a:defRPr>
            </a:pPr>
            <a:r>
              <a:t>[Optimization Engine]</a:t>
            </a:r>
          </a:p>
          <a:p>
            <a:pPr>
              <a:spcBef>
                <a:spcPts val="400"/>
              </a:spcBef>
              <a:defRPr sz="1200">
                <a:solidFill>
                  <a:srgbClr val="1E293B"/>
                </a:solidFill>
              </a:defRPr>
            </a:pPr>
            <a:r>
              <a:t>•  qpOASES active-set C++ solver.</a:t>
            </a:r>
          </a:p>
          <a:p>
            <a:pPr>
              <a:spcBef>
                <a:spcPts val="400"/>
              </a:spcBef>
              <a:defRPr sz="1200">
                <a:solidFill>
                  <a:srgbClr val="1E293B"/>
                </a:solidFill>
              </a:defRPr>
            </a:pPr>
            <a:r>
              <a:t>•  Solves nominal MPC over horizon N = 6.</a:t>
            </a:r>
          </a:p>
          <a:p>
            <a:pPr>
              <a:spcBef>
                <a:spcPts val="400"/>
              </a:spcBef>
              <a:defRPr sz="1200">
                <a:solidFill>
                  <a:srgbClr val="1E293B"/>
                </a:solidFill>
              </a:defRPr>
            </a:pPr>
            <a:r>
              <a:t>•  Execution time &lt; 2 ms.</a:t>
            </a:r>
          </a:p>
          <a:p>
            <a:pPr>
              <a:spcBef>
                <a:spcPts val="400"/>
              </a:spcBef>
              <a:defRPr sz="1200">
                <a:solidFill>
                  <a:srgbClr val="1E293B"/>
                </a:solidFill>
              </a:defRPr>
            </a:pPr>
            <a:r>
              <a:t>•  Generates optimal nominal input v_0*.</a:t>
            </a:r>
          </a:p>
        </p:txBody>
      </p:sp>
      <p:sp>
        <p:nvSpPr>
          <p:cNvPr id="7" name="Rounded Rectangle 6"/>
          <p:cNvSpPr/>
          <p:nvPr/>
        </p:nvSpPr>
        <p:spPr>
          <a:xfrm>
            <a:off x="7315200" y="1463040"/>
            <a:ext cx="20116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4. Fallback Logic</a:t>
            </a:r>
          </a:p>
          <a:p>
            <a:pPr>
              <a:spcAft>
                <a:spcPts val="400"/>
              </a:spcAft>
              <a:defRPr sz="1000" b="1">
                <a:solidFill>
                  <a:srgbClr val="0D9488"/>
                </a:solidFill>
              </a:defRPr>
            </a:pPr>
            <a:r>
              <a:t>[Safety Interlock]</a:t>
            </a:r>
          </a:p>
          <a:p>
            <a:pPr>
              <a:spcBef>
                <a:spcPts val="400"/>
              </a:spcBef>
              <a:defRPr sz="1200">
                <a:solidFill>
                  <a:srgbClr val="1E293B"/>
                </a:solidFill>
              </a:defRPr>
            </a:pPr>
            <a:r>
              <a:t>•  Monitors QP solver status flag.</a:t>
            </a:r>
          </a:p>
          <a:p>
            <a:pPr>
              <a:spcBef>
                <a:spcPts val="400"/>
              </a:spcBef>
              <a:defRPr sz="1200">
                <a:solidFill>
                  <a:srgbClr val="1E293B"/>
                </a:solidFill>
              </a:defRPr>
            </a:pPr>
            <a:r>
              <a:t>•  If infeasible, activates certified rate-limited fallback law.</a:t>
            </a:r>
          </a:p>
          <a:p>
            <a:pPr>
              <a:spcBef>
                <a:spcPts val="400"/>
              </a:spcBef>
              <a:defRPr sz="1200">
                <a:solidFill>
                  <a:srgbClr val="1E293B"/>
                </a:solidFill>
              </a:defRPr>
            </a:pPr>
            <a:r>
              <a:t>•  Guarantees safe deceleration and slew compliance.</a:t>
            </a:r>
          </a:p>
        </p:txBody>
      </p:sp>
      <p:sp>
        <p:nvSpPr>
          <p:cNvPr id="8" name="Rounded Rectangle 7"/>
          <p:cNvSpPr/>
          <p:nvPr/>
        </p:nvSpPr>
        <p:spPr>
          <a:xfrm>
            <a:off x="9509760" y="1463040"/>
            <a:ext cx="192024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5. Actuation</a:t>
            </a:r>
          </a:p>
          <a:p>
            <a:pPr>
              <a:spcAft>
                <a:spcPts val="400"/>
              </a:spcAft>
              <a:defRPr sz="1000" b="1">
                <a:solidFill>
                  <a:srgbClr val="0D9488"/>
                </a:solidFill>
              </a:defRPr>
            </a:pPr>
            <a:r>
              <a:t>[Physical Plant]</a:t>
            </a:r>
          </a:p>
          <a:p>
            <a:pPr>
              <a:spcBef>
                <a:spcPts val="400"/>
              </a:spcBef>
              <a:defRPr sz="1200">
                <a:solidFill>
                  <a:srgbClr val="1E293B"/>
                </a:solidFill>
              </a:defRPr>
            </a:pPr>
            <a:r>
              <a:t>•  Total control input:</a:t>
            </a:r>
          </a:p>
          <a:p>
            <a:pPr>
              <a:spcBef>
                <a:spcPts val="400"/>
              </a:spcBef>
              <a:defRPr sz="1200">
                <a:solidFill>
                  <a:srgbClr val="1E293B"/>
                </a:solidFill>
              </a:defRPr>
            </a:pPr>
            <a:r>
              <a:t>•  u(t) = v_0* + K_opt · (x - z_0*).</a:t>
            </a:r>
          </a:p>
          <a:p>
            <a:pPr>
              <a:spcBef>
                <a:spcPts val="400"/>
              </a:spcBef>
              <a:defRPr sz="1200">
                <a:solidFill>
                  <a:srgbClr val="1E293B"/>
                </a:solidFill>
              </a:defRPr>
            </a:pPr>
            <a:r>
              <a:t>•  Sends command to engine throttle and brake pressure valves.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0D9488"/>
                </a:solidFill>
              </a:defRPr>
            </a:pPr>
            <a:r>
              <a:t>SOFTWARE &amp; TEST ARCHITECTURE</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F172A"/>
                </a:solidFill>
              </a:defRPr>
            </a:pPr>
            <a:r>
              <a:t>MATLAB &amp; Simulink Implementation</a:t>
            </a:r>
          </a:p>
        </p:txBody>
      </p:sp>
      <p:sp>
        <p:nvSpPr>
          <p:cNvPr id="4" name="Rounded Rectangle 3"/>
          <p:cNvSpPr/>
          <p:nvPr/>
        </p:nvSpPr>
        <p:spPr>
          <a:xfrm>
            <a:off x="7315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Simulink Model Hierarchy</a:t>
            </a:r>
          </a:p>
          <a:p>
            <a:pPr>
              <a:spcAft>
                <a:spcPts val="400"/>
              </a:spcAft>
              <a:defRPr sz="1000" b="1">
                <a:solidFill>
                  <a:srgbClr val="0D9488"/>
                </a:solidFill>
              </a:defRPr>
            </a:pPr>
            <a:r>
              <a:t>[Modular Simulink Design]</a:t>
            </a:r>
          </a:p>
          <a:p>
            <a:pPr>
              <a:spcBef>
                <a:spcPts val="400"/>
              </a:spcBef>
              <a:defRPr sz="1200">
                <a:solidFill>
                  <a:srgbClr val="1E293B"/>
                </a:solidFill>
              </a:defRPr>
            </a:pPr>
            <a:r>
              <a:t>•  Built with modular Simulink subsystems:</a:t>
            </a:r>
          </a:p>
          <a:p>
            <a:pPr>
              <a:spcBef>
                <a:spcPts val="400"/>
              </a:spcBef>
              <a:defRPr sz="1200">
                <a:solidFill>
                  <a:srgbClr val="1E293B"/>
                </a:solidFill>
              </a:defRPr>
            </a:pPr>
            <a:r>
              <a:t>•  • Ego Vehicle Dynamics (3rd-order lag + drag).</a:t>
            </a:r>
          </a:p>
          <a:p>
            <a:pPr>
              <a:spcBef>
                <a:spcPts val="400"/>
              </a:spcBef>
              <a:defRPr sz="1200">
                <a:solidFill>
                  <a:srgbClr val="1E293B"/>
                </a:solidFill>
              </a:defRPr>
            </a:pPr>
            <a:r>
              <a:t>•  • Lead Vehicle Trajectory Profile generator.</a:t>
            </a:r>
          </a:p>
          <a:p>
            <a:pPr>
              <a:spcBef>
                <a:spcPts val="400"/>
              </a:spcBef>
              <a:defRPr sz="1200">
                <a:solidFill>
                  <a:srgbClr val="1E293B"/>
                </a:solidFill>
              </a:defRPr>
            </a:pPr>
            <a:r>
              <a:t>•  • Tube MPC Controller (MATLAB Function).</a:t>
            </a:r>
          </a:p>
          <a:p>
            <a:pPr>
              <a:spcBef>
                <a:spcPts val="400"/>
              </a:spcBef>
              <a:defRPr sz="1200">
                <a:solidFill>
                  <a:srgbClr val="1E293B"/>
                </a:solidFill>
              </a:defRPr>
            </a:pPr>
            <a:r>
              <a:t>•  • Fallback State Machine &amp; Monitor.</a:t>
            </a:r>
          </a:p>
        </p:txBody>
      </p:sp>
      <p:sp>
        <p:nvSpPr>
          <p:cNvPr id="5" name="Rounded Rectangle 4"/>
          <p:cNvSpPr/>
          <p:nvPr/>
        </p:nvSpPr>
        <p:spPr>
          <a:xfrm>
            <a:off x="34747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Discrete-Time Execution</a:t>
            </a:r>
          </a:p>
          <a:p>
            <a:pPr>
              <a:spcAft>
                <a:spcPts val="400"/>
              </a:spcAft>
              <a:defRPr sz="1000" b="1">
                <a:solidFill>
                  <a:srgbClr val="0D9488"/>
                </a:solidFill>
              </a:defRPr>
            </a:pPr>
            <a:r>
              <a:t>[10 Hz Control Cycle]</a:t>
            </a:r>
          </a:p>
          <a:p>
            <a:pPr>
              <a:spcBef>
                <a:spcPts val="400"/>
              </a:spcBef>
              <a:defRPr sz="1200">
                <a:solidFill>
                  <a:srgbClr val="1E293B"/>
                </a:solidFill>
              </a:defRPr>
            </a:pPr>
            <a:r>
              <a:t>•  Sample time T_s = 0.1 s (100 ms loop, 10 Hz rate).</a:t>
            </a:r>
          </a:p>
          <a:p>
            <a:pPr>
              <a:spcBef>
                <a:spcPts val="400"/>
              </a:spcBef>
              <a:defRPr sz="1200">
                <a:solidFill>
                  <a:srgbClr val="1E293B"/>
                </a:solidFill>
              </a:defRPr>
            </a:pPr>
            <a:r>
              <a:t>•  Continuous vehicle dynamics discretized via Zero-Order Hold (ZOH).</a:t>
            </a:r>
          </a:p>
          <a:p>
            <a:pPr>
              <a:spcBef>
                <a:spcPts val="400"/>
              </a:spcBef>
              <a:defRPr sz="1200">
                <a:solidFill>
                  <a:srgbClr val="1E293B"/>
                </a:solidFill>
              </a:defRPr>
            </a:pPr>
            <a:r>
              <a:t>•  Deterministic step execution suitable for embedded automotive ECUs.</a:t>
            </a:r>
          </a:p>
        </p:txBody>
      </p:sp>
      <p:sp>
        <p:nvSpPr>
          <p:cNvPr id="6" name="Rounded Rectangle 5"/>
          <p:cNvSpPr/>
          <p:nvPr/>
        </p:nvSpPr>
        <p:spPr>
          <a:xfrm>
            <a:off x="62179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Compiled C++ qpOASES Solver</a:t>
            </a:r>
          </a:p>
          <a:p>
            <a:pPr>
              <a:spcAft>
                <a:spcPts val="400"/>
              </a:spcAft>
              <a:defRPr sz="1000" b="1">
                <a:solidFill>
                  <a:srgbClr val="0D9488"/>
                </a:solidFill>
              </a:defRPr>
            </a:pPr>
            <a:r>
              <a:t>[MEX Optimization Engine]</a:t>
            </a:r>
          </a:p>
          <a:p>
            <a:pPr>
              <a:spcBef>
                <a:spcPts val="400"/>
              </a:spcBef>
              <a:defRPr sz="1200">
                <a:solidFill>
                  <a:srgbClr val="1E293B"/>
                </a:solidFill>
              </a:defRPr>
            </a:pPr>
            <a:r>
              <a:t>•  Embedded qpOASES solver compiled via MEX.</a:t>
            </a:r>
          </a:p>
          <a:p>
            <a:pPr>
              <a:spcBef>
                <a:spcPts val="400"/>
              </a:spcBef>
              <a:defRPr sz="1200">
                <a:solidFill>
                  <a:srgbClr val="1E293B"/>
                </a:solidFill>
              </a:defRPr>
            </a:pPr>
            <a:r>
              <a:t>•  Active-set method with online warm-starting.</a:t>
            </a:r>
          </a:p>
          <a:p>
            <a:pPr>
              <a:spcBef>
                <a:spcPts val="400"/>
              </a:spcBef>
              <a:defRPr sz="1200">
                <a:solidFill>
                  <a:srgbClr val="1E293B"/>
                </a:solidFill>
              </a:defRPr>
            </a:pPr>
            <a:r>
              <a:t>•  Average solver time: 1.4 ms per cycle.</a:t>
            </a:r>
          </a:p>
          <a:p>
            <a:pPr>
              <a:spcBef>
                <a:spcPts val="400"/>
              </a:spcBef>
              <a:defRPr sz="1200">
                <a:solidFill>
                  <a:srgbClr val="1E293B"/>
                </a:solidFill>
              </a:defRPr>
            </a:pPr>
            <a:r>
              <a:t>•  Peak solver time &lt; 2.0 ms (well within 100 ms limit).</a:t>
            </a:r>
          </a:p>
        </p:txBody>
      </p:sp>
      <p:sp>
        <p:nvSpPr>
          <p:cNvPr id="7" name="Rounded Rectangle 6"/>
          <p:cNvSpPr/>
          <p:nvPr/>
        </p:nvSpPr>
        <p:spPr>
          <a:xfrm>
            <a:off x="8961120" y="1463040"/>
            <a:ext cx="2468880" cy="466344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Automated Test Suite</a:t>
            </a:r>
          </a:p>
          <a:p>
            <a:pPr>
              <a:spcAft>
                <a:spcPts val="400"/>
              </a:spcAft>
              <a:defRPr sz="1000" b="1">
                <a:solidFill>
                  <a:srgbClr val="0D9488"/>
                </a:solidFill>
              </a:defRPr>
            </a:pPr>
            <a:r>
              <a:t>[26/26 Tests Passing]</a:t>
            </a:r>
          </a:p>
          <a:p>
            <a:pPr>
              <a:spcBef>
                <a:spcPts val="400"/>
              </a:spcBef>
              <a:defRPr sz="1200">
                <a:solidFill>
                  <a:srgbClr val="1E293B"/>
                </a:solidFill>
              </a:defRPr>
            </a:pPr>
            <a:r>
              <a:t>•  Automated test script: verify_package_integrity.m.</a:t>
            </a:r>
          </a:p>
          <a:p>
            <a:pPr>
              <a:spcBef>
                <a:spcPts val="400"/>
              </a:spcBef>
              <a:defRPr sz="1200">
                <a:solidFill>
                  <a:srgbClr val="1E293B"/>
                </a:solidFill>
              </a:defRPr>
            </a:pPr>
            <a:r>
              <a:t>•  26/26 automated unit tests passing 100%:</a:t>
            </a:r>
          </a:p>
          <a:p>
            <a:pPr>
              <a:spcBef>
                <a:spcPts val="400"/>
              </a:spcBef>
              <a:defRPr sz="1200">
                <a:solidFill>
                  <a:srgbClr val="1E293B"/>
                </a:solidFill>
              </a:defRPr>
            </a:pPr>
            <a:r>
              <a:t>•  • Matrix symmetry &amp; dimensions.</a:t>
            </a:r>
          </a:p>
          <a:p>
            <a:pPr>
              <a:spcBef>
                <a:spcPts val="400"/>
              </a:spcBef>
              <a:defRPr sz="1200">
                <a:solidFill>
                  <a:srgbClr val="1E293B"/>
                </a:solidFill>
              </a:defRPr>
            </a:pPr>
            <a:r>
              <a:t>•  • LMI Lyapunov contractivity (ρ=0.956).</a:t>
            </a:r>
          </a:p>
          <a:p>
            <a:pPr>
              <a:spcBef>
                <a:spcPts val="400"/>
              </a:spcBef>
              <a:defRPr sz="1200">
                <a:solidFill>
                  <a:srgbClr val="1E293B"/>
                </a:solidFill>
              </a:defRPr>
            </a:pPr>
            <a:r>
              <a:t>•  • Constraint tightening positivity.</a:t>
            </a:r>
          </a:p>
          <a:p>
            <a:pPr>
              <a:spcBef>
                <a:spcPts val="400"/>
              </a:spcBef>
              <a:defRPr sz="1200">
                <a:solidFill>
                  <a:srgbClr val="1E293B"/>
                </a:solidFill>
              </a:defRPr>
            </a:pPr>
            <a:r>
              <a:t>•  • Slew rate compliance across all steps.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0D9488"/>
                </a:solidFill>
              </a:defRPr>
            </a:pPr>
            <a:r>
              <a:t>VALIDATION BENCHMARKS</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F172A"/>
                </a:solidFill>
              </a:defRPr>
            </a:pPr>
            <a:r>
              <a:t>Experimental Setup: The 4 Core Scenarios</a:t>
            </a:r>
          </a:p>
        </p:txBody>
      </p:sp>
      <p:sp>
        <p:nvSpPr>
          <p:cNvPr id="4" name="Rounded Rectangle 3"/>
          <p:cNvSpPr/>
          <p:nvPr/>
        </p:nvSpPr>
        <p:spPr>
          <a:xfrm>
            <a:off x="7315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Core-1: Nominal Cruising</a:t>
            </a:r>
          </a:p>
          <a:p>
            <a:pPr>
              <a:spcAft>
                <a:spcPts val="400"/>
              </a:spcAft>
              <a:defRPr sz="1000" b="1">
                <a:solidFill>
                  <a:srgbClr val="0D9488"/>
                </a:solidFill>
              </a:defRPr>
            </a:pPr>
            <a:r>
              <a:t>[Baseline Cruising]</a:t>
            </a:r>
          </a:p>
          <a:p>
            <a:pPr>
              <a:spcBef>
                <a:spcPts val="400"/>
              </a:spcBef>
              <a:defRPr sz="1200">
                <a:solidFill>
                  <a:srgbClr val="1E293B"/>
                </a:solidFill>
              </a:defRPr>
            </a:pPr>
            <a:r>
              <a:t>•  Lead vehicle cruises smoothly with mild speed variations.</a:t>
            </a:r>
          </a:p>
          <a:p>
            <a:pPr>
              <a:spcBef>
                <a:spcPts val="400"/>
              </a:spcBef>
              <a:defRPr sz="1200">
                <a:solidFill>
                  <a:srgbClr val="1E293B"/>
                </a:solidFill>
              </a:defRPr>
            </a:pPr>
            <a:r>
              <a:t>•  Zero wind or extreme disturbance.</a:t>
            </a:r>
          </a:p>
          <a:p>
            <a:pPr>
              <a:spcBef>
                <a:spcPts val="400"/>
              </a:spcBef>
              <a:defRPr sz="1200">
                <a:solidFill>
                  <a:srgbClr val="1E293B"/>
                </a:solidFill>
              </a:defRPr>
            </a:pPr>
            <a:r>
              <a:t>•  Evaluates steady-state tracking error, smooth throttle, and passenger comfort.</a:t>
            </a:r>
          </a:p>
          <a:p>
            <a:pPr>
              <a:spcBef>
                <a:spcPts val="400"/>
              </a:spcBef>
              <a:defRPr sz="1200">
                <a:solidFill>
                  <a:srgbClr val="1E293B"/>
                </a:solidFill>
              </a:defRPr>
            </a:pPr>
            <a:r>
              <a:t>•  100.0% QP Feasibility (51/51 steps).</a:t>
            </a:r>
          </a:p>
        </p:txBody>
      </p:sp>
      <p:sp>
        <p:nvSpPr>
          <p:cNvPr id="5" name="Rounded Rectangle 4"/>
          <p:cNvSpPr/>
          <p:nvPr/>
        </p:nvSpPr>
        <p:spPr>
          <a:xfrm>
            <a:off x="34747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Core-2: Aggressive Cut-In</a:t>
            </a:r>
          </a:p>
          <a:p>
            <a:pPr>
              <a:spcAft>
                <a:spcPts val="400"/>
              </a:spcAft>
              <a:defRPr sz="1000" b="1">
                <a:solidFill>
                  <a:srgbClr val="0D9488"/>
                </a:solidFill>
              </a:defRPr>
            </a:pPr>
            <a:r>
              <a:t>[Cut-In Maneuver]</a:t>
            </a:r>
          </a:p>
          <a:p>
            <a:pPr>
              <a:spcBef>
                <a:spcPts val="400"/>
              </a:spcBef>
              <a:defRPr sz="1200">
                <a:solidFill>
                  <a:srgbClr val="1E293B"/>
                </a:solidFill>
              </a:defRPr>
            </a:pPr>
            <a:r>
              <a:t>•  Adjacent car cuts into ego lane at close range (gap deficit).</a:t>
            </a:r>
          </a:p>
          <a:p>
            <a:pPr>
              <a:spcBef>
                <a:spcPts val="400"/>
              </a:spcBef>
              <a:defRPr sz="1200">
                <a:solidFill>
                  <a:srgbClr val="1E293B"/>
                </a:solidFill>
              </a:defRPr>
            </a:pPr>
            <a:r>
              <a:t>•  Tests rapid distance recovery without panic braking.</a:t>
            </a:r>
          </a:p>
          <a:p>
            <a:pPr>
              <a:spcBef>
                <a:spcPts val="400"/>
              </a:spcBef>
              <a:defRPr sz="1200">
                <a:solidFill>
                  <a:srgbClr val="1E293B"/>
                </a:solidFill>
              </a:defRPr>
            </a:pPr>
            <a:r>
              <a:t>•  19.6% QP Feasibility; safe fallback handles transition smoothly.</a:t>
            </a:r>
          </a:p>
          <a:p>
            <a:pPr>
              <a:spcBef>
                <a:spcPts val="400"/>
              </a:spcBef>
              <a:defRPr sz="1200">
                <a:solidFill>
                  <a:srgbClr val="1E293B"/>
                </a:solidFill>
              </a:defRPr>
            </a:pPr>
            <a:r>
              <a:t>•  Minimum clearance preserved: 38.63 m.</a:t>
            </a:r>
          </a:p>
        </p:txBody>
      </p:sp>
      <p:sp>
        <p:nvSpPr>
          <p:cNvPr id="6" name="Rounded Rectangle 5"/>
          <p:cNvSpPr/>
          <p:nvPr/>
        </p:nvSpPr>
        <p:spPr>
          <a:xfrm>
            <a:off x="6217920" y="1463040"/>
            <a:ext cx="2468880" cy="466344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Core-3: Emergency Braking</a:t>
            </a:r>
          </a:p>
          <a:p>
            <a:pPr>
              <a:spcAft>
                <a:spcPts val="400"/>
              </a:spcAft>
              <a:defRPr sz="1000" b="1">
                <a:solidFill>
                  <a:srgbClr val="0D9488"/>
                </a:solidFill>
              </a:defRPr>
            </a:pPr>
            <a:r>
              <a:t>[Ablation Benchmark]</a:t>
            </a:r>
          </a:p>
          <a:p>
            <a:pPr>
              <a:spcBef>
                <a:spcPts val="400"/>
              </a:spcBef>
              <a:defRPr sz="1200">
                <a:solidFill>
                  <a:srgbClr val="1E293B"/>
                </a:solidFill>
              </a:defRPr>
            </a:pPr>
            <a:r>
              <a:t>•  Lead car slams brakes at -3.5 to -4.0 m/s².</a:t>
            </a:r>
          </a:p>
          <a:p>
            <a:pPr>
              <a:spcBef>
                <a:spcPts val="400"/>
              </a:spcBef>
              <a:defRPr sz="1200">
                <a:solidFill>
                  <a:srgbClr val="1E293B"/>
                </a:solidFill>
              </a:defRPr>
            </a:pPr>
            <a:r>
              <a:t>•  Ablation benchmark comparing Variants A through E across 51 steps.</a:t>
            </a:r>
          </a:p>
          <a:p>
            <a:pPr>
              <a:spcBef>
                <a:spcPts val="400"/>
              </a:spcBef>
              <a:defRPr sz="1200">
                <a:solidFill>
                  <a:srgbClr val="1E293B"/>
                </a:solidFill>
              </a:defRPr>
            </a:pPr>
            <a:r>
              <a:t>•  Proposed Variant E: 100.0% Feasibility, 0 Fallbacks, 0 Slew Violations.</a:t>
            </a:r>
          </a:p>
          <a:p>
            <a:pPr>
              <a:spcBef>
                <a:spcPts val="400"/>
              </a:spcBef>
              <a:defRPr sz="1200">
                <a:solidFill>
                  <a:srgbClr val="1E293B"/>
                </a:solidFill>
              </a:defRPr>
            </a:pPr>
            <a:r>
              <a:t>•  Minimum clearance: 32.69 m.</a:t>
            </a:r>
          </a:p>
        </p:txBody>
      </p:sp>
      <p:sp>
        <p:nvSpPr>
          <p:cNvPr id="7" name="Rounded Rectangle 6"/>
          <p:cNvSpPr/>
          <p:nvPr/>
        </p:nvSpPr>
        <p:spPr>
          <a:xfrm>
            <a:off x="89611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Core-4: Extreme Stress Test</a:t>
            </a:r>
          </a:p>
          <a:p>
            <a:pPr>
              <a:spcAft>
                <a:spcPts val="400"/>
              </a:spcAft>
              <a:defRPr sz="1000" b="1">
                <a:solidFill>
                  <a:srgbClr val="0D9488"/>
                </a:solidFill>
              </a:defRPr>
            </a:pPr>
            <a:r>
              <a:t>[Multi-Disturbance Stress]</a:t>
            </a:r>
          </a:p>
          <a:p>
            <a:pPr>
              <a:spcBef>
                <a:spcPts val="400"/>
              </a:spcBef>
              <a:defRPr sz="1200">
                <a:solidFill>
                  <a:srgbClr val="1E293B"/>
                </a:solidFill>
              </a:defRPr>
            </a:pPr>
            <a:r>
              <a:t>•  Combined cut-in, emergency braking, wind gusts, sensor noise, and lag.</a:t>
            </a:r>
          </a:p>
          <a:p>
            <a:pPr>
              <a:spcBef>
                <a:spcPts val="400"/>
              </a:spcBef>
              <a:defRPr sz="1200">
                <a:solidFill>
                  <a:srgbClr val="1E293B"/>
                </a:solidFill>
              </a:defRPr>
            </a:pPr>
            <a:r>
              <a:t>•  Tests extreme limits of robust envelope.</a:t>
            </a:r>
          </a:p>
          <a:p>
            <a:pPr>
              <a:spcBef>
                <a:spcPts val="400"/>
              </a:spcBef>
              <a:defRPr sz="1200">
                <a:solidFill>
                  <a:srgbClr val="1E293B"/>
                </a:solidFill>
              </a:defRPr>
            </a:pPr>
            <a:r>
              <a:t>•  5.9% QP Feasibility; certified fallback handles 48 steps.</a:t>
            </a:r>
          </a:p>
          <a:p>
            <a:pPr>
              <a:spcBef>
                <a:spcPts val="400"/>
              </a:spcBef>
              <a:defRPr sz="1200">
                <a:solidFill>
                  <a:srgbClr val="1E293B"/>
                </a:solidFill>
              </a:defRPr>
            </a:pPr>
            <a:r>
              <a:t>•  Zero collisions, 36.16 m clearance preserved.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0D9488"/>
                </a:solidFill>
              </a:defRPr>
            </a:pPr>
            <a:r>
              <a:t>QUANTITATIVE PERFORMANCE COMPARISON</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F172A"/>
                </a:solidFill>
              </a:defRPr>
            </a:pPr>
            <a:r>
              <a:t>Experimental Results: Core-3 Ablation Benchmark</a:t>
            </a:r>
          </a:p>
        </p:txBody>
      </p:sp>
      <p:graphicFrame>
        <p:nvGraphicFramePr>
          <p:cNvPr id="4" name="Table 3"/>
          <p:cNvGraphicFramePr>
            <a:graphicFrameLocks noGrp="1"/>
          </p:cNvGraphicFramePr>
          <p:nvPr/>
        </p:nvGraphicFramePr>
        <p:xfrm>
          <a:off x="731520" y="1463040"/>
          <a:ext cx="10698480" cy="3931920"/>
        </p:xfrm>
        <a:graphic>
          <a:graphicData uri="http://schemas.openxmlformats.org/drawingml/2006/table">
            <a:tbl>
              <a:tblPr firstRow="1" bandRow="1">
                <a:tableStyleId>{5C22544A-7EE6-4342-B048-85BDC9FD1C3A}</a:tableStyleId>
              </a:tblPr>
              <a:tblGrid>
                <a:gridCol w="2286000"/>
                <a:gridCol w="1645920"/>
                <a:gridCol w="1645920"/>
                <a:gridCol w="1645920"/>
                <a:gridCol w="1645920"/>
                <a:gridCol w="1828800"/>
              </a:tblGrid>
              <a:tr h="561702">
                <a:tc>
                  <a:txBody>
                    <a:bodyPr/>
                    <a:lstStyle/>
                    <a:p>
                      <a:pPr algn="l">
                        <a:defRPr sz="1100" b="1">
                          <a:solidFill>
                            <a:srgbClr val="FFFFFF"/>
                          </a:solidFill>
                        </a:defRPr>
                      </a:pPr>
                      <a:r>
                        <a:t>Metric</a:t>
                      </a:r>
                    </a:p>
                  </a:txBody>
                  <a:tcPr>
                    <a:solidFill>
                      <a:srgbClr val="0F172A"/>
                    </a:solidFill>
                  </a:tcPr>
                </a:tc>
                <a:tc>
                  <a:txBody>
                    <a:bodyPr/>
                    <a:lstStyle/>
                    <a:p>
                      <a:pPr algn="ctr">
                        <a:defRPr sz="1100" b="1">
                          <a:solidFill>
                            <a:srgbClr val="FFFFFF"/>
                          </a:solidFill>
                        </a:defRPr>
                      </a:pPr>
                      <a:r>
                        <a:t>Variant A (Baseline)</a:t>
                      </a:r>
                    </a:p>
                  </a:txBody>
                  <a:tcPr>
                    <a:solidFill>
                      <a:srgbClr val="0F172A"/>
                    </a:solidFill>
                  </a:tcPr>
                </a:tc>
                <a:tc>
                  <a:txBody>
                    <a:bodyPr/>
                    <a:lstStyle/>
                    <a:p>
                      <a:pPr algn="ctr">
                        <a:defRPr sz="1100" b="1">
                          <a:solidFill>
                            <a:srgbClr val="FFFFFF"/>
                          </a:solidFill>
                        </a:defRPr>
                      </a:pPr>
                      <a:r>
                        <a:t>Variant B (Traj)</a:t>
                      </a:r>
                    </a:p>
                  </a:txBody>
                  <a:tcPr>
                    <a:solidFill>
                      <a:srgbClr val="0F172A"/>
                    </a:solidFill>
                  </a:tcPr>
                </a:tc>
                <a:tc>
                  <a:txBody>
                    <a:bodyPr/>
                    <a:lstStyle/>
                    <a:p>
                      <a:pPr algn="ctr">
                        <a:defRPr sz="1100" b="1">
                          <a:solidFill>
                            <a:srgbClr val="FFFFFF"/>
                          </a:solidFill>
                        </a:defRPr>
                      </a:pPr>
                      <a:r>
                        <a:t>Variant C (Static+S0)</a:t>
                      </a:r>
                    </a:p>
                  </a:txBody>
                  <a:tcPr>
                    <a:solidFill>
                      <a:srgbClr val="0F172A"/>
                    </a:solidFill>
                  </a:tcPr>
                </a:tc>
                <a:tc>
                  <a:txBody>
                    <a:bodyPr/>
                    <a:lstStyle/>
                    <a:p>
                      <a:pPr algn="ctr">
                        <a:defRPr sz="1100" b="1">
                          <a:solidFill>
                            <a:srgbClr val="FFFFFF"/>
                          </a:solidFill>
                        </a:defRPr>
                      </a:pPr>
                      <a:r>
                        <a:t>Variant D (Traj+S0)</a:t>
                      </a:r>
                    </a:p>
                  </a:txBody>
                  <a:tcPr>
                    <a:solidFill>
                      <a:srgbClr val="0F172A"/>
                    </a:solidFill>
                  </a:tcPr>
                </a:tc>
                <a:tc>
                  <a:txBody>
                    <a:bodyPr/>
                    <a:lstStyle/>
                    <a:p>
                      <a:pPr algn="ctr">
                        <a:defRPr sz="1100" b="1">
                          <a:solidFill>
                            <a:srgbClr val="FFFFFF"/>
                          </a:solidFill>
                        </a:defRPr>
                      </a:pPr>
                      <a:r>
                        <a:t>Variant E (Proposed)</a:t>
                      </a:r>
                    </a:p>
                  </a:txBody>
                  <a:tcPr>
                    <a:solidFill>
                      <a:srgbClr val="0F172A"/>
                    </a:solidFill>
                  </a:tcPr>
                </a:tc>
              </a:tr>
              <a:tr h="561702">
                <a:tc>
                  <a:txBody>
                    <a:bodyPr/>
                    <a:lstStyle/>
                    <a:p>
                      <a:pPr algn="l">
                        <a:defRPr sz="1100">
                          <a:solidFill>
                            <a:srgbClr val="0F172A"/>
                          </a:solidFill>
                        </a:defRPr>
                      </a:pPr>
                      <a:r>
                        <a:t>Uncertainty Prop.</a:t>
                      </a:r>
                    </a:p>
                  </a:txBody>
                  <a:tcPr>
                    <a:solidFill>
                      <a:srgbClr val="FFFFFF"/>
                    </a:solidFill>
                  </a:tcPr>
                </a:tc>
                <a:tc>
                  <a:txBody>
                    <a:bodyPr/>
                    <a:lstStyle/>
                    <a:p>
                      <a:pPr algn="ctr">
                        <a:defRPr sz="1100">
                          <a:solidFill>
                            <a:srgbClr val="0F172A"/>
                          </a:solidFill>
                        </a:defRPr>
                      </a:pPr>
                      <a:r>
                        <a:t>Static (ū=3.0)</a:t>
                      </a:r>
                    </a:p>
                  </a:txBody>
                  <a:tcPr>
                    <a:solidFill>
                      <a:srgbClr val="FFFFFF"/>
                    </a:solidFill>
                  </a:tcPr>
                </a:tc>
                <a:tc>
                  <a:txBody>
                    <a:bodyPr/>
                    <a:lstStyle/>
                    <a:p>
                      <a:pPr algn="ctr">
                        <a:defRPr sz="1100">
                          <a:solidFill>
                            <a:srgbClr val="0F172A"/>
                          </a:solidFill>
                        </a:defRPr>
                      </a:pPr>
                      <a:r>
                        <a:t>Trajectory</a:t>
                      </a:r>
                    </a:p>
                  </a:txBody>
                  <a:tcPr>
                    <a:solidFill>
                      <a:srgbClr val="FFFFFF"/>
                    </a:solidFill>
                  </a:tcPr>
                </a:tc>
                <a:tc>
                  <a:txBody>
                    <a:bodyPr/>
                    <a:lstStyle/>
                    <a:p>
                      <a:pPr algn="ctr">
                        <a:defRPr sz="1100">
                          <a:solidFill>
                            <a:srgbClr val="0F172A"/>
                          </a:solidFill>
                        </a:defRPr>
                      </a:pPr>
                      <a:r>
                        <a:t>Static (ū=3.0)</a:t>
                      </a:r>
                    </a:p>
                  </a:txBody>
                  <a:tcPr>
                    <a:solidFill>
                      <a:srgbClr val="FFFFFF"/>
                    </a:solidFill>
                  </a:tcPr>
                </a:tc>
                <a:tc>
                  <a:txBody>
                    <a:bodyPr/>
                    <a:lstStyle/>
                    <a:p>
                      <a:pPr algn="ctr">
                        <a:defRPr sz="1100">
                          <a:solidFill>
                            <a:srgbClr val="0F172A"/>
                          </a:solidFill>
                        </a:defRPr>
                      </a:pPr>
                      <a:r>
                        <a:t>Trajectory</a:t>
                      </a:r>
                    </a:p>
                  </a:txBody>
                  <a:tcPr>
                    <a:solidFill>
                      <a:srgbClr val="FFFFFF"/>
                    </a:solidFill>
                  </a:tcPr>
                </a:tc>
                <a:tc>
                  <a:txBody>
                    <a:bodyPr/>
                    <a:lstStyle/>
                    <a:p>
                      <a:pPr algn="ctr">
                        <a:defRPr sz="1100" b="1">
                          <a:solidFill>
                            <a:srgbClr val="0F172A"/>
                          </a:solidFill>
                        </a:defRPr>
                      </a:pPr>
                      <a:r>
                        <a:t>Trajectory</a:t>
                      </a:r>
                    </a:p>
                  </a:txBody>
                  <a:tcPr>
                    <a:solidFill>
                      <a:srgbClr val="CCFBF1"/>
                    </a:solidFill>
                  </a:tcPr>
                </a:tc>
              </a:tr>
              <a:tr h="561702">
                <a:tc>
                  <a:txBody>
                    <a:bodyPr/>
                    <a:lstStyle/>
                    <a:p>
                      <a:pPr algn="l">
                        <a:defRPr sz="1100">
                          <a:solidFill>
                            <a:srgbClr val="0F172A"/>
                          </a:solidFill>
                        </a:defRPr>
                      </a:pPr>
                      <a:r>
                        <a:t>Step-0 Slew Cond.</a:t>
                      </a:r>
                    </a:p>
                  </a:txBody>
                  <a:tcPr>
                    <a:solidFill>
                      <a:srgbClr val="F1F5F9"/>
                    </a:solidFill>
                  </a:tcPr>
                </a:tc>
                <a:tc>
                  <a:txBody>
                    <a:bodyPr/>
                    <a:lstStyle/>
                    <a:p>
                      <a:pPr algn="ctr">
                        <a:defRPr sz="1100">
                          <a:solidFill>
                            <a:srgbClr val="0F172A"/>
                          </a:solidFill>
                        </a:defRPr>
                      </a:pPr>
                      <a:r>
                        <a:t>No</a:t>
                      </a:r>
                    </a:p>
                  </a:txBody>
                  <a:tcPr>
                    <a:solidFill>
                      <a:srgbClr val="F1F5F9"/>
                    </a:solidFill>
                  </a:tcPr>
                </a:tc>
                <a:tc>
                  <a:txBody>
                    <a:bodyPr/>
                    <a:lstStyle/>
                    <a:p>
                      <a:pPr algn="ctr">
                        <a:defRPr sz="1100">
                          <a:solidFill>
                            <a:srgbClr val="0F172A"/>
                          </a:solidFill>
                        </a:defRPr>
                      </a:pPr>
                      <a:r>
                        <a:t>No</a:t>
                      </a:r>
                    </a:p>
                  </a:txBody>
                  <a:tcPr>
                    <a:solidFill>
                      <a:srgbClr val="F1F5F9"/>
                    </a:solidFill>
                  </a:tcPr>
                </a:tc>
                <a:tc>
                  <a:txBody>
                    <a:bodyPr/>
                    <a:lstStyle/>
                    <a:p>
                      <a:pPr algn="ctr">
                        <a:defRPr sz="1100">
                          <a:solidFill>
                            <a:srgbClr val="0F172A"/>
                          </a:solidFill>
                        </a:defRPr>
                      </a:pPr>
                      <a:r>
                        <a:t>Yes (Theorem 2)</a:t>
                      </a:r>
                    </a:p>
                  </a:txBody>
                  <a:tcPr>
                    <a:solidFill>
                      <a:srgbClr val="F1F5F9"/>
                    </a:solidFill>
                  </a:tcPr>
                </a:tc>
                <a:tc>
                  <a:txBody>
                    <a:bodyPr/>
                    <a:lstStyle/>
                    <a:p>
                      <a:pPr algn="ctr">
                        <a:defRPr sz="1100">
                          <a:solidFill>
                            <a:srgbClr val="0F172A"/>
                          </a:solidFill>
                        </a:defRPr>
                      </a:pPr>
                      <a:r>
                        <a:t>Yes (Theorem 2)</a:t>
                      </a:r>
                    </a:p>
                  </a:txBody>
                  <a:tcPr>
                    <a:solidFill>
                      <a:srgbClr val="F1F5F9"/>
                    </a:solidFill>
                  </a:tcPr>
                </a:tc>
                <a:tc>
                  <a:txBody>
                    <a:bodyPr/>
                    <a:lstStyle/>
                    <a:p>
                      <a:pPr algn="ctr">
                        <a:defRPr sz="1100" b="1">
                          <a:solidFill>
                            <a:srgbClr val="0F172A"/>
                          </a:solidFill>
                        </a:defRPr>
                      </a:pPr>
                      <a:r>
                        <a:t>Yes (Theorem 2)</a:t>
                      </a:r>
                    </a:p>
                  </a:txBody>
                  <a:tcPr>
                    <a:solidFill>
                      <a:srgbClr val="CCFBF1"/>
                    </a:solidFill>
                  </a:tcPr>
                </a:tc>
              </a:tr>
              <a:tr h="561702">
                <a:tc>
                  <a:txBody>
                    <a:bodyPr/>
                    <a:lstStyle/>
                    <a:p>
                      <a:pPr algn="l">
                        <a:defRPr sz="1100">
                          <a:solidFill>
                            <a:srgbClr val="0F172A"/>
                          </a:solidFill>
                        </a:defRPr>
                      </a:pPr>
                      <a:r>
                        <a:t>Ancillary Gain</a:t>
                      </a:r>
                    </a:p>
                  </a:txBody>
                  <a:tcPr>
                    <a:solidFill>
                      <a:srgbClr val="FFFFFF"/>
                    </a:solidFill>
                  </a:tcPr>
                </a:tc>
                <a:tc>
                  <a:txBody>
                    <a:bodyPr/>
                    <a:lstStyle/>
                    <a:p>
                      <a:pPr algn="ctr">
                        <a:defRPr sz="1100">
                          <a:solidFill>
                            <a:srgbClr val="0F172A"/>
                          </a:solidFill>
                        </a:defRPr>
                      </a:pPr>
                      <a:r>
                        <a:t>K_paper</a:t>
                      </a:r>
                    </a:p>
                  </a:txBody>
                  <a:tcPr>
                    <a:solidFill>
                      <a:srgbClr val="FFFFFF"/>
                    </a:solidFill>
                  </a:tcPr>
                </a:tc>
                <a:tc>
                  <a:txBody>
                    <a:bodyPr/>
                    <a:lstStyle/>
                    <a:p>
                      <a:pPr algn="ctr">
                        <a:defRPr sz="1100">
                          <a:solidFill>
                            <a:srgbClr val="0F172A"/>
                          </a:solidFill>
                        </a:defRPr>
                      </a:pPr>
                      <a:r>
                        <a:t>K_paper</a:t>
                      </a:r>
                    </a:p>
                  </a:txBody>
                  <a:tcPr>
                    <a:solidFill>
                      <a:srgbClr val="FFFFFF"/>
                    </a:solidFill>
                  </a:tcPr>
                </a:tc>
                <a:tc>
                  <a:txBody>
                    <a:bodyPr/>
                    <a:lstStyle/>
                    <a:p>
                      <a:pPr algn="ctr">
                        <a:defRPr sz="1100">
                          <a:solidFill>
                            <a:srgbClr val="0F172A"/>
                          </a:solidFill>
                        </a:defRPr>
                      </a:pPr>
                      <a:r>
                        <a:t>K_paper</a:t>
                      </a:r>
                    </a:p>
                  </a:txBody>
                  <a:tcPr>
                    <a:solidFill>
                      <a:srgbClr val="FFFFFF"/>
                    </a:solidFill>
                  </a:tcPr>
                </a:tc>
                <a:tc>
                  <a:txBody>
                    <a:bodyPr/>
                    <a:lstStyle/>
                    <a:p>
                      <a:pPr algn="ctr">
                        <a:defRPr sz="1100">
                          <a:solidFill>
                            <a:srgbClr val="0F172A"/>
                          </a:solidFill>
                        </a:defRPr>
                      </a:pPr>
                      <a:r>
                        <a:t>K_paper</a:t>
                      </a:r>
                    </a:p>
                  </a:txBody>
                  <a:tcPr>
                    <a:solidFill>
                      <a:srgbClr val="FFFFFF"/>
                    </a:solidFill>
                  </a:tcPr>
                </a:tc>
                <a:tc>
                  <a:txBody>
                    <a:bodyPr/>
                    <a:lstStyle/>
                    <a:p>
                      <a:pPr algn="ctr">
                        <a:defRPr sz="1100" b="1">
                          <a:solidFill>
                            <a:srgbClr val="0F172A"/>
                          </a:solidFill>
                        </a:defRPr>
                      </a:pPr>
                      <a:r>
                        <a:t>K_opt (LMI certified)</a:t>
                      </a:r>
                    </a:p>
                  </a:txBody>
                  <a:tcPr>
                    <a:solidFill>
                      <a:srgbClr val="CCFBF1"/>
                    </a:solidFill>
                  </a:tcPr>
                </a:tc>
              </a:tr>
              <a:tr h="561702">
                <a:tc>
                  <a:txBody>
                    <a:bodyPr/>
                    <a:lstStyle/>
                    <a:p>
                      <a:pPr algn="l">
                        <a:defRPr sz="1100">
                          <a:solidFill>
                            <a:srgbClr val="0F172A"/>
                          </a:solidFill>
                        </a:defRPr>
                      </a:pPr>
                      <a:r>
                        <a:t>QP Feasibility Ratio</a:t>
                      </a:r>
                    </a:p>
                  </a:txBody>
                  <a:tcPr>
                    <a:solidFill>
                      <a:srgbClr val="F1F5F9"/>
                    </a:solidFill>
                  </a:tcPr>
                </a:tc>
                <a:tc>
                  <a:txBody>
                    <a:bodyPr/>
                    <a:lstStyle/>
                    <a:p>
                      <a:pPr algn="ctr">
                        <a:defRPr sz="1100">
                          <a:solidFill>
                            <a:srgbClr val="0F172A"/>
                          </a:solidFill>
                        </a:defRPr>
                      </a:pPr>
                      <a:r>
                        <a:t>100.0% (51/51)</a:t>
                      </a:r>
                    </a:p>
                  </a:txBody>
                  <a:tcPr>
                    <a:solidFill>
                      <a:srgbClr val="F1F5F9"/>
                    </a:solidFill>
                  </a:tcPr>
                </a:tc>
                <a:tc>
                  <a:txBody>
                    <a:bodyPr/>
                    <a:lstStyle/>
                    <a:p>
                      <a:pPr algn="ctr">
                        <a:defRPr sz="1100">
                          <a:solidFill>
                            <a:srgbClr val="0F172A"/>
                          </a:solidFill>
                        </a:defRPr>
                      </a:pPr>
                      <a:r>
                        <a:t>100.0% (51/51)</a:t>
                      </a:r>
                    </a:p>
                  </a:txBody>
                  <a:tcPr>
                    <a:solidFill>
                      <a:srgbClr val="F1F5F9"/>
                    </a:solidFill>
                  </a:tcPr>
                </a:tc>
                <a:tc>
                  <a:txBody>
                    <a:bodyPr/>
                    <a:lstStyle/>
                    <a:p>
                      <a:pPr algn="ctr">
                        <a:defRPr sz="1100">
                          <a:solidFill>
                            <a:srgbClr val="0F172A"/>
                          </a:solidFill>
                        </a:defRPr>
                      </a:pPr>
                      <a:r>
                        <a:t>33.3% (17/51)</a:t>
                      </a:r>
                    </a:p>
                  </a:txBody>
                  <a:tcPr>
                    <a:solidFill>
                      <a:srgbClr val="F1F5F9"/>
                    </a:solidFill>
                  </a:tcPr>
                </a:tc>
                <a:tc>
                  <a:txBody>
                    <a:bodyPr/>
                    <a:lstStyle/>
                    <a:p>
                      <a:pPr algn="ctr">
                        <a:defRPr sz="1100">
                          <a:solidFill>
                            <a:srgbClr val="0F172A"/>
                          </a:solidFill>
                        </a:defRPr>
                      </a:pPr>
                      <a:r>
                        <a:t>86.3% (44/51)</a:t>
                      </a:r>
                    </a:p>
                  </a:txBody>
                  <a:tcPr>
                    <a:solidFill>
                      <a:srgbClr val="F1F5F9"/>
                    </a:solidFill>
                  </a:tcPr>
                </a:tc>
                <a:tc>
                  <a:txBody>
                    <a:bodyPr/>
                    <a:lstStyle/>
                    <a:p>
                      <a:pPr algn="ctr">
                        <a:defRPr sz="1100" b="1">
                          <a:solidFill>
                            <a:srgbClr val="0F172A"/>
                          </a:solidFill>
                        </a:defRPr>
                      </a:pPr>
                      <a:r>
                        <a:t>100.0% (51/51)</a:t>
                      </a:r>
                    </a:p>
                  </a:txBody>
                  <a:tcPr>
                    <a:solidFill>
                      <a:srgbClr val="CCFBF1"/>
                    </a:solidFill>
                  </a:tcPr>
                </a:tc>
              </a:tr>
              <a:tr h="561702">
                <a:tc>
                  <a:txBody>
                    <a:bodyPr/>
                    <a:lstStyle/>
                    <a:p>
                      <a:pPr algn="l">
                        <a:defRPr sz="1100">
                          <a:solidFill>
                            <a:srgbClr val="0F172A"/>
                          </a:solidFill>
                        </a:defRPr>
                      </a:pPr>
                      <a:r>
                        <a:t>Max Slew Violation</a:t>
                      </a:r>
                    </a:p>
                  </a:txBody>
                  <a:tcPr>
                    <a:solidFill>
                      <a:srgbClr val="FFFFFF"/>
                    </a:solidFill>
                  </a:tcPr>
                </a:tc>
                <a:tc>
                  <a:txBody>
                    <a:bodyPr/>
                    <a:lstStyle/>
                    <a:p>
                      <a:pPr algn="ctr">
                        <a:defRPr sz="1100">
                          <a:solidFill>
                            <a:srgbClr val="0F172A"/>
                          </a:solidFill>
                        </a:defRPr>
                      </a:pPr>
                      <a:r>
                        <a:t>0.3539 m/s² (+141%)</a:t>
                      </a:r>
                    </a:p>
                  </a:txBody>
                  <a:tcPr>
                    <a:solidFill>
                      <a:srgbClr val="FFFFFF"/>
                    </a:solidFill>
                  </a:tcPr>
                </a:tc>
                <a:tc>
                  <a:txBody>
                    <a:bodyPr/>
                    <a:lstStyle/>
                    <a:p>
                      <a:pPr algn="ctr">
                        <a:defRPr sz="1100">
                          <a:solidFill>
                            <a:srgbClr val="0F172A"/>
                          </a:solidFill>
                        </a:defRPr>
                      </a:pPr>
                      <a:r>
                        <a:t>0.3539 m/s² (+141%)</a:t>
                      </a:r>
                    </a:p>
                  </a:txBody>
                  <a:tcPr>
                    <a:solidFill>
                      <a:srgbClr val="FFFFFF"/>
                    </a:solidFill>
                  </a:tcPr>
                </a:tc>
                <a:tc>
                  <a:txBody>
                    <a:bodyPr/>
                    <a:lstStyle/>
                    <a:p>
                      <a:pPr algn="ctr">
                        <a:defRPr sz="1100">
                          <a:solidFill>
                            <a:srgbClr val="0F172A"/>
                          </a:solidFill>
                        </a:defRPr>
                      </a:pPr>
                      <a:r>
                        <a:t>0.0000 m/s²</a:t>
                      </a:r>
                    </a:p>
                  </a:txBody>
                  <a:tcPr>
                    <a:solidFill>
                      <a:srgbClr val="FFFFFF"/>
                    </a:solidFill>
                  </a:tcPr>
                </a:tc>
                <a:tc>
                  <a:txBody>
                    <a:bodyPr/>
                    <a:lstStyle/>
                    <a:p>
                      <a:pPr algn="ctr">
                        <a:defRPr sz="1100">
                          <a:solidFill>
                            <a:srgbClr val="0F172A"/>
                          </a:solidFill>
                        </a:defRPr>
                      </a:pPr>
                      <a:r>
                        <a:t>0.0000 m/s²</a:t>
                      </a:r>
                    </a:p>
                  </a:txBody>
                  <a:tcPr>
                    <a:solidFill>
                      <a:srgbClr val="FFFFFF"/>
                    </a:solidFill>
                  </a:tcPr>
                </a:tc>
                <a:tc>
                  <a:txBody>
                    <a:bodyPr/>
                    <a:lstStyle/>
                    <a:p>
                      <a:pPr algn="ctr">
                        <a:defRPr sz="1100" b="1">
                          <a:solidFill>
                            <a:srgbClr val="0F172A"/>
                          </a:solidFill>
                        </a:defRPr>
                      </a:pPr>
                      <a:r>
                        <a:t>0.0000 m/s² (Zero)</a:t>
                      </a:r>
                    </a:p>
                  </a:txBody>
                  <a:tcPr>
                    <a:solidFill>
                      <a:srgbClr val="CCFBF1"/>
                    </a:solidFill>
                  </a:tcPr>
                </a:tc>
              </a:tr>
              <a:tr h="561708">
                <a:tc>
                  <a:txBody>
                    <a:bodyPr/>
                    <a:lstStyle/>
                    <a:p>
                      <a:pPr algn="l">
                        <a:defRPr sz="1100">
                          <a:solidFill>
                            <a:srgbClr val="0F172A"/>
                          </a:solidFill>
                        </a:defRPr>
                      </a:pPr>
                      <a:r>
                        <a:t>Total Variation TV(u)</a:t>
                      </a:r>
                    </a:p>
                  </a:txBody>
                  <a:tcPr>
                    <a:solidFill>
                      <a:srgbClr val="F1F5F9"/>
                    </a:solidFill>
                  </a:tcPr>
                </a:tc>
                <a:tc>
                  <a:txBody>
                    <a:bodyPr/>
                    <a:lstStyle/>
                    <a:p>
                      <a:pPr algn="ctr">
                        <a:defRPr sz="1100">
                          <a:solidFill>
                            <a:srgbClr val="0F172A"/>
                          </a:solidFill>
                        </a:defRPr>
                      </a:pPr>
                      <a:r>
                        <a:t>7.4788 m/s²</a:t>
                      </a:r>
                    </a:p>
                  </a:txBody>
                  <a:tcPr>
                    <a:solidFill>
                      <a:srgbClr val="F1F5F9"/>
                    </a:solidFill>
                  </a:tcPr>
                </a:tc>
                <a:tc>
                  <a:txBody>
                    <a:bodyPr/>
                    <a:lstStyle/>
                    <a:p>
                      <a:pPr algn="ctr">
                        <a:defRPr sz="1100">
                          <a:solidFill>
                            <a:srgbClr val="0F172A"/>
                          </a:solidFill>
                        </a:defRPr>
                      </a:pPr>
                      <a:r>
                        <a:t>7.4787 m/s²</a:t>
                      </a:r>
                    </a:p>
                  </a:txBody>
                  <a:tcPr>
                    <a:solidFill>
                      <a:srgbClr val="F1F5F9"/>
                    </a:solidFill>
                  </a:tcPr>
                </a:tc>
                <a:tc>
                  <a:txBody>
                    <a:bodyPr/>
                    <a:lstStyle/>
                    <a:p>
                      <a:pPr algn="ctr">
                        <a:defRPr sz="1100">
                          <a:solidFill>
                            <a:srgbClr val="0F172A"/>
                          </a:solidFill>
                        </a:defRPr>
                      </a:pPr>
                      <a:r>
                        <a:t>4.6879 m/s²</a:t>
                      </a:r>
                    </a:p>
                  </a:txBody>
                  <a:tcPr>
                    <a:solidFill>
                      <a:srgbClr val="F1F5F9"/>
                    </a:solidFill>
                  </a:tcPr>
                </a:tc>
                <a:tc>
                  <a:txBody>
                    <a:bodyPr/>
                    <a:lstStyle/>
                    <a:p>
                      <a:pPr algn="ctr">
                        <a:defRPr sz="1100">
                          <a:solidFill>
                            <a:srgbClr val="0F172A"/>
                          </a:solidFill>
                        </a:defRPr>
                      </a:pPr>
                      <a:r>
                        <a:t>6.8840 m/s²</a:t>
                      </a:r>
                    </a:p>
                  </a:txBody>
                  <a:tcPr>
                    <a:solidFill>
                      <a:srgbClr val="F1F5F9"/>
                    </a:solidFill>
                  </a:tcPr>
                </a:tc>
                <a:tc>
                  <a:txBody>
                    <a:bodyPr/>
                    <a:lstStyle/>
                    <a:p>
                      <a:pPr algn="ctr">
                        <a:defRPr sz="1100" b="1">
                          <a:solidFill>
                            <a:srgbClr val="0F172A"/>
                          </a:solidFill>
                        </a:defRPr>
                      </a:pPr>
                      <a:r>
                        <a:t>3.8620 m/s² (-48.4%)</a:t>
                      </a:r>
                    </a:p>
                  </a:txBody>
                  <a:tcPr>
                    <a:solidFill>
                      <a:srgbClr val="CCFBF1"/>
                    </a:solidFill>
                  </a:tcPr>
                </a:tc>
              </a:tr>
            </a:tbl>
          </a:graphicData>
        </a:graphic>
      </p:graphicFrame>
      <p:sp>
        <p:nvSpPr>
          <p:cNvPr id="5" name="TextBox 4"/>
          <p:cNvSpPr txBox="1"/>
          <p:nvPr/>
        </p:nvSpPr>
        <p:spPr>
          <a:xfrm>
            <a:off x="731520" y="5577840"/>
            <a:ext cx="10698480" cy="640080"/>
          </a:xfrm>
          <a:prstGeom prst="rect">
            <a:avLst/>
          </a:prstGeom>
          <a:noFill/>
        </p:spPr>
        <p:txBody>
          <a:bodyPr wrap="none">
            <a:spAutoFit/>
          </a:bodyPr>
          <a:lstStyle/>
          <a:p>
            <a:pPr>
              <a:defRPr sz="1100">
                <a:solidFill>
                  <a:srgbClr val="64748B"/>
                </a:solidFill>
              </a:defRPr>
            </a:pPr>
            <a:r>
              <a:t>Key Takeaway: Baseline (Variant A) violates slew limits by +141.6%. Adding Step-0 to static tubes (Variant C) collapses feasibility to 33.3%. Proposed Variant E combines trajectory propagation, Step-0 conditioning, and optimal gain to achieve 100% feasibility, zero slew violations, and -48.4% control variation.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0D9488"/>
                </a:solidFill>
              </a:defRPr>
            </a:pPr>
            <a:r>
              <a:t>ENGINEERING INSIGHTS &amp; ANALYSIS</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F172A"/>
                </a:solidFill>
              </a:defRPr>
            </a:pPr>
            <a:r>
              <a:t>What Do the Results Mean?</a:t>
            </a:r>
          </a:p>
        </p:txBody>
      </p:sp>
      <p:sp>
        <p:nvSpPr>
          <p:cNvPr id="4" name="Rounded Rectangle 3"/>
          <p:cNvSpPr/>
          <p:nvPr/>
        </p:nvSpPr>
        <p:spPr>
          <a:xfrm>
            <a:off x="7315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1. Why Static Tubes Collapse</a:t>
            </a:r>
          </a:p>
          <a:p>
            <a:pPr>
              <a:spcAft>
                <a:spcPts val="400"/>
              </a:spcAft>
              <a:defRPr sz="1000" b="1">
                <a:solidFill>
                  <a:srgbClr val="0D9488"/>
                </a:solidFill>
              </a:defRPr>
            </a:pPr>
            <a:r>
              <a:t>[Mathematical Insight]</a:t>
            </a:r>
          </a:p>
          <a:p>
            <a:pPr>
              <a:spcBef>
                <a:spcPts val="400"/>
              </a:spcBef>
              <a:defRPr sz="1200">
                <a:solidFill>
                  <a:srgbClr val="1E293B"/>
                </a:solidFill>
              </a:defRPr>
            </a:pPr>
            <a:r>
              <a:t>•  Static bounding assumes worst-case disturbance even under gentle braking.</a:t>
            </a:r>
          </a:p>
          <a:p>
            <a:pPr>
              <a:spcBef>
                <a:spcPts val="400"/>
              </a:spcBef>
              <a:defRPr sz="1200">
                <a:solidFill>
                  <a:srgbClr val="1E293B"/>
                </a:solidFill>
              </a:defRPr>
            </a:pPr>
            <a:r>
              <a:t>•  Causes constraint set to shrink below zero (width = -1.60 m/s²).</a:t>
            </a:r>
          </a:p>
          <a:p>
            <a:pPr>
              <a:spcBef>
                <a:spcPts val="400"/>
              </a:spcBef>
              <a:defRPr sz="1200">
                <a:solidFill>
                  <a:srgbClr val="1E293B"/>
                </a:solidFill>
              </a:defRPr>
            </a:pPr>
            <a:r>
              <a:t>•  Creates artificial mathematical infeasibility.</a:t>
            </a:r>
          </a:p>
          <a:p>
            <a:pPr>
              <a:spcBef>
                <a:spcPts val="400"/>
              </a:spcBef>
              <a:defRPr sz="1200">
                <a:solidFill>
                  <a:srgbClr val="1E293B"/>
                </a:solidFill>
              </a:defRPr>
            </a:pPr>
            <a:r>
              <a:t>•  Proves static tubes are inadequate for emergency braking.</a:t>
            </a:r>
          </a:p>
        </p:txBody>
      </p:sp>
      <p:sp>
        <p:nvSpPr>
          <p:cNvPr id="5" name="Rounded Rectangle 4"/>
          <p:cNvSpPr/>
          <p:nvPr/>
        </p:nvSpPr>
        <p:spPr>
          <a:xfrm>
            <a:off x="34747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2. Trajectory Propagation</a:t>
            </a:r>
          </a:p>
          <a:p>
            <a:pPr>
              <a:spcAft>
                <a:spcPts val="400"/>
              </a:spcAft>
              <a:defRPr sz="1000" b="1">
                <a:solidFill>
                  <a:srgbClr val="0D9488"/>
                </a:solidFill>
              </a:defRPr>
            </a:pPr>
            <a:r>
              <a:t>[Feasibility Restored]</a:t>
            </a:r>
          </a:p>
          <a:p>
            <a:pPr>
              <a:spcBef>
                <a:spcPts val="400"/>
              </a:spcBef>
              <a:defRPr sz="1200">
                <a:solidFill>
                  <a:srgbClr val="1E293B"/>
                </a:solidFill>
              </a:defRPr>
            </a:pPr>
            <a:r>
              <a:t>•  Scales tube cross-section dynamically with scheduled acceleration.</a:t>
            </a:r>
          </a:p>
          <a:p>
            <a:pPr>
              <a:spcBef>
                <a:spcPts val="400"/>
              </a:spcBef>
              <a:defRPr sz="1200">
                <a:solidFill>
                  <a:srgbClr val="1E293B"/>
                </a:solidFill>
              </a:defRPr>
            </a:pPr>
            <a:r>
              <a:t>•  Keeps tightened constraint width positive (+0.20 m/s²).</a:t>
            </a:r>
          </a:p>
          <a:p>
            <a:pPr>
              <a:spcBef>
                <a:spcPts val="400"/>
              </a:spcBef>
              <a:defRPr sz="1200">
                <a:solidFill>
                  <a:srgbClr val="1E293B"/>
                </a:solidFill>
              </a:defRPr>
            </a:pPr>
            <a:r>
              <a:t>•  Restores 100.0% QP feasibility in Core-3.</a:t>
            </a:r>
          </a:p>
          <a:p>
            <a:pPr>
              <a:spcBef>
                <a:spcPts val="400"/>
              </a:spcBef>
              <a:defRPr sz="1200">
                <a:solidFill>
                  <a:srgbClr val="1E293B"/>
                </a:solidFill>
              </a:defRPr>
            </a:pPr>
            <a:r>
              <a:t>•  Zero fallback steps required.</a:t>
            </a:r>
          </a:p>
        </p:txBody>
      </p:sp>
      <p:sp>
        <p:nvSpPr>
          <p:cNvPr id="6" name="Rounded Rectangle 5"/>
          <p:cNvSpPr/>
          <p:nvPr/>
        </p:nvSpPr>
        <p:spPr>
          <a:xfrm>
            <a:off x="6217920" y="1463040"/>
            <a:ext cx="24688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3. Actuator Protection</a:t>
            </a:r>
          </a:p>
          <a:p>
            <a:pPr>
              <a:spcAft>
                <a:spcPts val="400"/>
              </a:spcAft>
              <a:defRPr sz="1000" b="1">
                <a:solidFill>
                  <a:srgbClr val="0D9488"/>
                </a:solidFill>
              </a:defRPr>
            </a:pPr>
            <a:r>
              <a:t>[Comfort &amp; Longevity]</a:t>
            </a:r>
          </a:p>
          <a:p>
            <a:pPr>
              <a:spcBef>
                <a:spcPts val="400"/>
              </a:spcBef>
              <a:defRPr sz="1200">
                <a:solidFill>
                  <a:srgbClr val="1E293B"/>
                </a:solidFill>
              </a:defRPr>
            </a:pPr>
            <a:r>
              <a:t>•  Step-0 conditioning eliminates 141.6% slew rate violation.</a:t>
            </a:r>
          </a:p>
          <a:p>
            <a:pPr>
              <a:spcBef>
                <a:spcPts val="400"/>
              </a:spcBef>
              <a:defRPr sz="1200">
                <a:solidFill>
                  <a:srgbClr val="1E293B"/>
                </a:solidFill>
              </a:defRPr>
            </a:pPr>
            <a:r>
              <a:t>•  Slew violation drops to 0.0000 m/s².</a:t>
            </a:r>
          </a:p>
          <a:p>
            <a:pPr>
              <a:spcBef>
                <a:spcPts val="400"/>
              </a:spcBef>
              <a:defRPr sz="1200">
                <a:solidFill>
                  <a:srgbClr val="1E293B"/>
                </a:solidFill>
              </a:defRPr>
            </a:pPr>
            <a:r>
              <a:t>•  Total variation TV(u) drops from 7.48 to 3.86 m/s² (-48.4%).</a:t>
            </a:r>
          </a:p>
          <a:p>
            <a:pPr>
              <a:spcBef>
                <a:spcPts val="400"/>
              </a:spcBef>
              <a:defRPr sz="1200">
                <a:solidFill>
                  <a:srgbClr val="1E293B"/>
                </a:solidFill>
              </a:defRPr>
            </a:pPr>
            <a:r>
              <a:t>•  Prevents hydraulic brake wear and passenger whiplash.</a:t>
            </a:r>
          </a:p>
        </p:txBody>
      </p:sp>
      <p:sp>
        <p:nvSpPr>
          <p:cNvPr id="7" name="Rounded Rectangle 6"/>
          <p:cNvSpPr/>
          <p:nvPr/>
        </p:nvSpPr>
        <p:spPr>
          <a:xfrm>
            <a:off x="8961120" y="1463040"/>
            <a:ext cx="2468880" cy="466344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4. Transparent Safety</a:t>
            </a:r>
          </a:p>
          <a:p>
            <a:pPr>
              <a:spcAft>
                <a:spcPts val="400"/>
              </a:spcAft>
              <a:defRPr sz="1000" b="1">
                <a:solidFill>
                  <a:srgbClr val="0D9488"/>
                </a:solidFill>
              </a:defRPr>
            </a:pPr>
            <a:r>
              <a:t>[Honest Engineering]</a:t>
            </a:r>
          </a:p>
          <a:p>
            <a:pPr>
              <a:spcBef>
                <a:spcPts val="400"/>
              </a:spcBef>
              <a:defRPr sz="1200">
                <a:solidFill>
                  <a:srgbClr val="1E293B"/>
                </a:solidFill>
              </a:defRPr>
            </a:pPr>
            <a:r>
              <a:t>•  Honest reporting across all scenarios:</a:t>
            </a:r>
          </a:p>
          <a:p>
            <a:pPr>
              <a:spcBef>
                <a:spcPts val="400"/>
              </a:spcBef>
              <a:defRPr sz="1200">
                <a:solidFill>
                  <a:srgbClr val="1E293B"/>
                </a:solidFill>
              </a:defRPr>
            </a:pPr>
            <a:r>
              <a:t>•  • Core-1 (Cruising): 100% feasibility.</a:t>
            </a:r>
          </a:p>
          <a:p>
            <a:pPr>
              <a:spcBef>
                <a:spcPts val="400"/>
              </a:spcBef>
              <a:defRPr sz="1200">
                <a:solidFill>
                  <a:srgbClr val="1E293B"/>
                </a:solidFill>
              </a:defRPr>
            </a:pPr>
            <a:r>
              <a:t>•  • Core-3 (Emergency): 100% feasibility.</a:t>
            </a:r>
          </a:p>
          <a:p>
            <a:pPr>
              <a:spcBef>
                <a:spcPts val="400"/>
              </a:spcBef>
              <a:defRPr sz="1200">
                <a:solidFill>
                  <a:srgbClr val="1E293B"/>
                </a:solidFill>
              </a:defRPr>
            </a:pPr>
            <a:r>
              <a:t>•  • Core-2 (Cut-In): 19.6% QP feas., safe fallback preserves 38.6 m gap.</a:t>
            </a:r>
          </a:p>
          <a:p>
            <a:pPr>
              <a:spcBef>
                <a:spcPts val="400"/>
              </a:spcBef>
              <a:defRPr sz="1200">
                <a:solidFill>
                  <a:srgbClr val="1E293B"/>
                </a:solidFill>
              </a:defRPr>
            </a:pPr>
            <a:r>
              <a:t>•  • Core-4 (Stress): 5.9% QP feas., fallback preserves 36.2 m gap (zero crash).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0D9488"/>
                </a:solidFill>
              </a:defRPr>
            </a:pPr>
            <a:r>
              <a:t>CRITICAL ASSESSMENT &amp; ROADMAP</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F172A"/>
                </a:solidFill>
              </a:defRPr>
            </a:pPr>
            <a:r>
              <a:t>Project Limitations &amp; Future Work</a:t>
            </a:r>
          </a:p>
        </p:txBody>
      </p:sp>
      <p:sp>
        <p:nvSpPr>
          <p:cNvPr id="4" name="Rounded Rectangle 3"/>
          <p:cNvSpPr/>
          <p:nvPr/>
        </p:nvSpPr>
        <p:spPr>
          <a:xfrm>
            <a:off x="731520" y="1463040"/>
            <a:ext cx="512064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Current Project Limitations</a:t>
            </a:r>
          </a:p>
          <a:p>
            <a:pPr>
              <a:spcAft>
                <a:spcPts val="400"/>
              </a:spcAft>
              <a:defRPr sz="1000" b="1">
                <a:solidFill>
                  <a:srgbClr val="0D9488"/>
                </a:solidFill>
              </a:defRPr>
            </a:pPr>
            <a:r>
              <a:t>[Engineering Boundaries]</a:t>
            </a:r>
          </a:p>
          <a:p>
            <a:pPr>
              <a:spcBef>
                <a:spcPts val="400"/>
              </a:spcBef>
              <a:defRPr sz="1200">
                <a:solidFill>
                  <a:srgbClr val="1E293B"/>
                </a:solidFill>
              </a:defRPr>
            </a:pPr>
            <a:r>
              <a:t>•  1. Linearized Longitudinal Dynamics:</a:t>
            </a:r>
          </a:p>
          <a:p>
            <a:pPr>
              <a:spcBef>
                <a:spcPts val="400"/>
              </a:spcBef>
              <a:defRPr sz="1200">
                <a:solidFill>
                  <a:srgbClr val="1E293B"/>
                </a:solidFill>
              </a:defRPr>
            </a:pPr>
            <a:r>
              <a:t>•  Uses a 3rd-order longitudinal state model.</a:t>
            </a:r>
          </a:p>
          <a:p>
            <a:pPr>
              <a:spcBef>
                <a:spcPts val="400"/>
              </a:spcBef>
              <a:defRPr sz="1200">
                <a:solidFill>
                  <a:srgbClr val="1E293B"/>
                </a:solidFill>
              </a:defRPr>
            </a:pPr>
            <a:r>
              <a:t>•  Neglects vehicle pitch, suspension dynamics, and lateral tire slip.</a:t>
            </a:r>
          </a:p>
          <a:p>
            <a:pPr>
              <a:spcBef>
                <a:spcPts val="400"/>
              </a:spcBef>
              <a:defRPr sz="1200">
                <a:solidFill>
                  <a:srgbClr val="1E293B"/>
                </a:solidFill>
              </a:defRPr>
            </a:pPr>
            <a:r>
              <a:t>•  </a:t>
            </a:r>
          </a:p>
          <a:p>
            <a:pPr>
              <a:spcBef>
                <a:spcPts val="400"/>
              </a:spcBef>
              <a:defRPr sz="1200">
                <a:solidFill>
                  <a:srgbClr val="1E293B"/>
                </a:solidFill>
              </a:defRPr>
            </a:pPr>
            <a:r>
              <a:t>•  2. Fixed Short Prediction Horizon (N = 6):</a:t>
            </a:r>
          </a:p>
          <a:p>
            <a:pPr>
              <a:spcBef>
                <a:spcPts val="400"/>
              </a:spcBef>
              <a:defRPr sz="1200">
                <a:solidFill>
                  <a:srgbClr val="1E293B"/>
                </a:solidFill>
              </a:defRPr>
            </a:pPr>
            <a:r>
              <a:t>•  Preview of 0.6 seconds is optimal for local control and rapid QP solving.</a:t>
            </a:r>
          </a:p>
          <a:p>
            <a:pPr>
              <a:spcBef>
                <a:spcPts val="400"/>
              </a:spcBef>
              <a:defRPr sz="1200">
                <a:solidFill>
                  <a:srgbClr val="1E293B"/>
                </a:solidFill>
              </a:defRPr>
            </a:pPr>
            <a:r>
              <a:t>•  Cannot anticipate traffic signals or macro traffic flow miles ahead.</a:t>
            </a:r>
          </a:p>
          <a:p>
            <a:pPr>
              <a:spcBef>
                <a:spcPts val="400"/>
              </a:spcBef>
              <a:defRPr sz="1200">
                <a:solidFill>
                  <a:srgbClr val="1E293B"/>
                </a:solidFill>
              </a:defRPr>
            </a:pPr>
            <a:r>
              <a:t>•  </a:t>
            </a:r>
          </a:p>
          <a:p>
            <a:pPr>
              <a:spcBef>
                <a:spcPts val="400"/>
              </a:spcBef>
              <a:defRPr sz="1200">
                <a:solidFill>
                  <a:srgbClr val="1E293B"/>
                </a:solidFill>
              </a:defRPr>
            </a:pPr>
            <a:r>
              <a:t>•  3. Bounded Disturbance Set Assumption:</a:t>
            </a:r>
          </a:p>
          <a:p>
            <a:pPr>
              <a:spcBef>
                <a:spcPts val="400"/>
              </a:spcBef>
              <a:defRPr sz="1200">
                <a:solidFill>
                  <a:srgbClr val="1E293B"/>
                </a:solidFill>
              </a:defRPr>
            </a:pPr>
            <a:r>
              <a:t>•  Assumes disturbance w stays within a known polytopic set.</a:t>
            </a:r>
          </a:p>
          <a:p>
            <a:pPr>
              <a:spcBef>
                <a:spcPts val="400"/>
              </a:spcBef>
              <a:defRPr sz="1200">
                <a:solidFill>
                  <a:srgbClr val="1E293B"/>
                </a:solidFill>
              </a:defRPr>
            </a:pPr>
            <a:r>
              <a:t>•  Unmodeled extreme loss of friction (e.g., black ice) requires fallback takeover.</a:t>
            </a:r>
          </a:p>
        </p:txBody>
      </p:sp>
      <p:sp>
        <p:nvSpPr>
          <p:cNvPr id="5" name="Rounded Rectangle 4"/>
          <p:cNvSpPr/>
          <p:nvPr/>
        </p:nvSpPr>
        <p:spPr>
          <a:xfrm>
            <a:off x="6309360" y="1463040"/>
            <a:ext cx="5120640" cy="466344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0F172A"/>
                </a:solidFill>
              </a:defRPr>
            </a:pPr>
            <a:r>
              <a:t>Future Research Roadmap</a:t>
            </a:r>
          </a:p>
          <a:p>
            <a:pPr>
              <a:spcAft>
                <a:spcPts val="400"/>
              </a:spcAft>
              <a:defRPr sz="1000" b="1">
                <a:solidFill>
                  <a:srgbClr val="0D9488"/>
                </a:solidFill>
              </a:defRPr>
            </a:pPr>
            <a:r>
              <a:t>[Future Horizons]</a:t>
            </a:r>
          </a:p>
          <a:p>
            <a:pPr>
              <a:spcBef>
                <a:spcPts val="400"/>
              </a:spcBef>
              <a:defRPr sz="1200">
                <a:solidFill>
                  <a:srgbClr val="1E293B"/>
                </a:solidFill>
              </a:defRPr>
            </a:pPr>
            <a:r>
              <a:t>•  1. Coupled Longitudinal-Lateral Nonlinear MPC (NMPC):</a:t>
            </a:r>
          </a:p>
          <a:p>
            <a:pPr>
              <a:spcBef>
                <a:spcPts val="400"/>
              </a:spcBef>
              <a:defRPr sz="1200">
                <a:solidFill>
                  <a:srgbClr val="1E293B"/>
                </a:solidFill>
              </a:defRPr>
            </a:pPr>
            <a:r>
              <a:t>•  Extend to joint steering and braking control for automated emergency evasive lane changes.</a:t>
            </a:r>
          </a:p>
          <a:p>
            <a:pPr>
              <a:spcBef>
                <a:spcPts val="400"/>
              </a:spcBef>
              <a:defRPr sz="1200">
                <a:solidFill>
                  <a:srgbClr val="1E293B"/>
                </a:solidFill>
              </a:defRPr>
            </a:pPr>
            <a:r>
              <a:t>•  </a:t>
            </a:r>
          </a:p>
          <a:p>
            <a:pPr>
              <a:spcBef>
                <a:spcPts val="400"/>
              </a:spcBef>
              <a:defRPr sz="1200">
                <a:solidFill>
                  <a:srgbClr val="1E293B"/>
                </a:solidFill>
              </a:defRPr>
            </a:pPr>
            <a:r>
              <a:t>•  2. Online Tire-Road Friction Estimation:</a:t>
            </a:r>
          </a:p>
          <a:p>
            <a:pPr>
              <a:spcBef>
                <a:spcPts val="400"/>
              </a:spcBef>
              <a:defRPr sz="1200">
                <a:solidFill>
                  <a:srgbClr val="1E293B"/>
                </a:solidFill>
              </a:defRPr>
            </a:pPr>
            <a:r>
              <a:t>•  Integrate Recursive Least Squares (RLS) observer to estimate friction coefficient μ in real-time.</a:t>
            </a:r>
          </a:p>
          <a:p>
            <a:pPr>
              <a:spcBef>
                <a:spcPts val="400"/>
              </a:spcBef>
              <a:defRPr sz="1200">
                <a:solidFill>
                  <a:srgbClr val="1E293B"/>
                </a:solidFill>
              </a:defRPr>
            </a:pPr>
            <a:r>
              <a:t>•  </a:t>
            </a:r>
          </a:p>
          <a:p>
            <a:pPr>
              <a:spcBef>
                <a:spcPts val="400"/>
              </a:spcBef>
              <a:defRPr sz="1200">
                <a:solidFill>
                  <a:srgbClr val="1E293B"/>
                </a:solidFill>
              </a:defRPr>
            </a:pPr>
            <a:r>
              <a:t>•  3. Hardware-in-the-Loop (HIL) Testing:</a:t>
            </a:r>
          </a:p>
          <a:p>
            <a:pPr>
              <a:spcBef>
                <a:spcPts val="400"/>
              </a:spcBef>
              <a:defRPr sz="1200">
                <a:solidFill>
                  <a:srgbClr val="1E293B"/>
                </a:solidFill>
              </a:defRPr>
            </a:pPr>
            <a:r>
              <a:t>•  Deploy the compiled MEX/C controller onto automotive target hardware like dSPACE MicroAutoBox or NVIDIA DRIVE.</a:t>
            </a:r>
          </a:p>
          <a:p>
            <a:pPr>
              <a:spcBef>
                <a:spcPts val="400"/>
              </a:spcBef>
              <a:defRPr sz="1200">
                <a:solidFill>
                  <a:srgbClr val="1E293B"/>
                </a:solidFill>
              </a:defRPr>
            </a:pPr>
            <a:r>
              <a:t>•  </a:t>
            </a:r>
          </a:p>
          <a:p>
            <a:pPr>
              <a:spcBef>
                <a:spcPts val="400"/>
              </a:spcBef>
              <a:defRPr sz="1200">
                <a:solidFill>
                  <a:srgbClr val="1E293B"/>
                </a:solidFill>
              </a:defRPr>
            </a:pPr>
            <a:r>
              <a:t>•  4. Multi-Vehicle Platoon String Stability:</a:t>
            </a:r>
          </a:p>
          <a:p>
            <a:pPr>
              <a:spcBef>
                <a:spcPts val="400"/>
              </a:spcBef>
              <a:defRPr sz="1200">
                <a:solidFill>
                  <a:srgbClr val="1E293B"/>
                </a:solidFill>
              </a:defRPr>
            </a:pPr>
            <a:r>
              <a:t>•  Extend Tube MPC to cooperative ACC (CACC) using V2V communication.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914400" y="731520"/>
            <a:ext cx="73152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32720" cy="731520"/>
          </a:xfrm>
          <a:prstGeom prst="rect">
            <a:avLst/>
          </a:prstGeom>
          <a:noFill/>
        </p:spPr>
        <p:txBody>
          <a:bodyPr wrap="none">
            <a:spAutoFit/>
          </a:bodyPr>
          <a:lstStyle/>
          <a:p>
            <a:pPr>
              <a:defRPr sz="2800" b="1">
                <a:solidFill>
                  <a:srgbClr val="FFFFFF"/>
                </a:solidFill>
              </a:defRPr>
            </a:pPr>
            <a:r>
              <a:t>Conclusion &amp; Viva Voce Defense</a:t>
            </a:r>
          </a:p>
        </p:txBody>
      </p:sp>
      <p:sp>
        <p:nvSpPr>
          <p:cNvPr id="4" name="Rounded Rectangle 3"/>
          <p:cNvSpPr/>
          <p:nvPr/>
        </p:nvSpPr>
        <p:spPr>
          <a:xfrm>
            <a:off x="914400" y="1828800"/>
            <a:ext cx="4937760" cy="4297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300" b="1">
                <a:solidFill>
                  <a:srgbClr val="0D9488"/>
                </a:solidFill>
              </a:defRPr>
            </a:pPr>
            <a:r>
              <a:t>CORE CONTRIBUTIONS SUMMARY</a:t>
            </a:r>
          </a:p>
          <a:p>
            <a:pPr>
              <a:spcBef>
                <a:spcPts val="800"/>
              </a:spcBef>
              <a:defRPr sz="1200">
                <a:solidFill>
                  <a:srgbClr val="F1F5F9"/>
                </a:solidFill>
              </a:defRPr>
            </a:pPr>
            <a:r>
              <a:t>✔  Formulated Robust Tube MPC for highway Adaptive Cruise Control.</a:t>
            </a:r>
          </a:p>
          <a:p>
            <a:pPr>
              <a:spcBef>
                <a:spcPts val="800"/>
              </a:spcBef>
              <a:defRPr sz="1200">
                <a:solidFill>
                  <a:srgbClr val="F1F5F9"/>
                </a:solidFill>
              </a:defRPr>
            </a:pPr>
            <a:r>
              <a:t>✔  Overcame tube collapse during hard braking via dynamic trajectory propagation.</a:t>
            </a:r>
          </a:p>
          <a:p>
            <a:pPr>
              <a:spcBef>
                <a:spcPts val="800"/>
              </a:spcBef>
              <a:defRPr sz="1200">
                <a:solidFill>
                  <a:srgbClr val="F1F5F9"/>
                </a:solidFill>
              </a:defRPr>
            </a:pPr>
            <a:r>
              <a:t>✔  Eliminated actuator slew rate violations (0.3539 m/s² → 0.0000 m/s²) via Theorem 2.</a:t>
            </a:r>
          </a:p>
          <a:p>
            <a:pPr>
              <a:spcBef>
                <a:spcPts val="800"/>
              </a:spcBef>
              <a:defRPr sz="1200">
                <a:solidFill>
                  <a:srgbClr val="F1F5F9"/>
                </a:solidFill>
              </a:defRPr>
            </a:pPr>
            <a:r>
              <a:t>✔  Synthesized LMI-certified optimal ancillary feedback gain (ρ = 0.9560).</a:t>
            </a:r>
          </a:p>
          <a:p>
            <a:pPr>
              <a:spcBef>
                <a:spcPts val="800"/>
              </a:spcBef>
              <a:defRPr sz="1200">
                <a:solidFill>
                  <a:srgbClr val="F1F5F9"/>
                </a:solidFill>
              </a:defRPr>
            </a:pPr>
            <a:r>
              <a:t>✔  Achieved 100% QP feasibility and 48.4% reduction in control total variation.</a:t>
            </a:r>
          </a:p>
          <a:p>
            <a:pPr>
              <a:spcBef>
                <a:spcPts val="800"/>
              </a:spcBef>
              <a:defRPr sz="1200">
                <a:solidFill>
                  <a:srgbClr val="F1F5F9"/>
                </a:solidFill>
              </a:defRPr>
            </a:pPr>
            <a:r>
              <a:t>✔  Implemented certified fallback mechanism ensuring collision-free operation.</a:t>
            </a:r>
          </a:p>
        </p:txBody>
      </p:sp>
      <p:sp>
        <p:nvSpPr>
          <p:cNvPr id="5" name="Rounded Rectangle 4"/>
          <p:cNvSpPr/>
          <p:nvPr/>
        </p:nvSpPr>
        <p:spPr>
          <a:xfrm>
            <a:off x="6309360" y="1828800"/>
            <a:ext cx="4937760" cy="4297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300" b="1">
                <a:solidFill>
                  <a:srgbClr val="0D9488"/>
                </a:solidFill>
              </a:defRPr>
            </a:pPr>
            <a:r>
              <a:t>PACKAGE DELIVERABLES &amp; ACKNOWLEDGMENTS</a:t>
            </a:r>
          </a:p>
          <a:p>
            <a:pPr>
              <a:spcBef>
                <a:spcPts val="800"/>
              </a:spcBef>
              <a:defRPr sz="1200">
                <a:solidFill>
                  <a:srgbClr val="E2E8F0"/>
                </a:solidFill>
              </a:defRPr>
            </a:pPr>
            <a:r>
              <a:t>•  Complete MATLAB / Simulink test bench with 26/26 unit tests passing.</a:t>
            </a:r>
          </a:p>
          <a:p>
            <a:pPr>
              <a:spcBef>
                <a:spcPts val="800"/>
              </a:spcBef>
              <a:defRPr sz="1200">
                <a:solidFill>
                  <a:srgbClr val="E2E8F0"/>
                </a:solidFill>
              </a:defRPr>
            </a:pPr>
            <a:r>
              <a:t>•  Live Interactive Telemetry Portal hosted on GitHub Pages.</a:t>
            </a:r>
          </a:p>
          <a:p>
            <a:pPr>
              <a:spcBef>
                <a:spcPts val="800"/>
              </a:spcBef>
              <a:defRPr sz="1200">
                <a:solidFill>
                  <a:srgbClr val="E2E8F0"/>
                </a:solidFill>
              </a:defRPr>
            </a:pPr>
            <a:r>
              <a:t>•  Reproducibility Package with full IEEE TCST manuscript draft.</a:t>
            </a:r>
          </a:p>
          <a:p>
            <a:pPr>
              <a:spcBef>
                <a:spcPts val="800"/>
              </a:spcBef>
              <a:defRPr sz="1200">
                <a:solidFill>
                  <a:srgbClr val="E2E8F0"/>
                </a:solidFill>
              </a:defRPr>
            </a:pPr>
            <a:r>
              <a:t>•  Sincere gratitude to project guide and faculty for their invaluable guidance.</a:t>
            </a:r>
          </a:p>
          <a:p>
            <a:br/>
            <a:pPr>
              <a:spcBef>
                <a:spcPts val="1400"/>
              </a:spcBef>
              <a:defRPr sz="1600" b="1">
                <a:solidFill>
                  <a:srgbClr val="FFFFFF"/>
                </a:solidFill>
              </a:defRPr>
            </a:pPr>
            <a:r>
              <a:t>Thank You, Respected Sir &amp; Committee.</a:t>
            </a:r>
            <a:br/>
            <a:r>
              <a:t>I am ready for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