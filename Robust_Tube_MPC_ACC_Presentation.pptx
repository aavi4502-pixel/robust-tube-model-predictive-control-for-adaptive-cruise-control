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838CBC-61CE-4CB0-80C9-E6149E9E9E63}" type="datetimeFigureOut">
              <a:rPr lang="en-IN" smtClean="0"/>
              <a:t>22-10-2026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2A59A8-F6E1-40ED-B768-7D705CC15429}" type="slidenum">
              <a:rPr lang="en-IN" smtClean="0"/>
              <a:t>‹#›</a:t>
            </a:fld>
            <a:endParaRPr lang="en-IN"/>
          </a:p>
        </p:txBody>
      </p:sp>
    </p:spTree>
    <p:extLst>
      <p:ext uri="{BB962C8B-B14F-4D97-AF65-F5344CB8AC3E}">
        <p14:creationId xmlns:p14="http://schemas.microsoft.com/office/powerpoint/2010/main" val="38475764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SAY TO YOUR SIR:
'Good morning/afternoon, Sir. Today I am presenting my research on Robust Tube Model Predictive Control for Adaptive Cruise Control. In automotive ACC, when a lead car brakes suddenly, existing robust controllers either violently jerk the car's engine beyond physical actuator limits, or the mathematical optimizer crashes. In this work, we developed a complete co-designed framework that guarantees 100% mathematical feasibility while completely eliminating actuator rate violations.'</a:t>
            </a:r>
            <a:endParaRPr lang="en-IN"/>
          </a:p>
        </p:txBody>
      </p:sp>
      <p:sp>
        <p:nvSpPr>
          <p:cNvPr id="4" name="Slide Number Placeholder 3"/>
          <p:cNvSpPr>
            <a:spLocks noGrp="1"/>
          </p:cNvSpPr>
          <p:nvPr>
            <p:ph type="sldNum" sz="quarter" idx="5"/>
          </p:nvPr>
        </p:nvSpPr>
        <p:spPr/>
        <p:txBody>
          <a:bodyPr/>
          <a:lstStyle/>
          <a:p>
            <a:fld id="{B12A59A8-F6E1-40ED-B768-7D705CC15429}" type="slidenum">
              <a:rPr lang="en-IN" smtClean="0"/>
              <a:t>1</a:t>
            </a:fld>
            <a:endParaRPr lang="en-IN"/>
          </a:p>
        </p:txBody>
      </p:sp>
    </p:spTree>
    <p:extLst>
      <p:ext uri="{BB962C8B-B14F-4D97-AF65-F5344CB8AC3E}">
        <p14:creationId xmlns:p14="http://schemas.microsoft.com/office/powerpoint/2010/main" val="3799282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SAY TO YOUR SIR:
'Sir, in a real car, the engine has mechanical lag (tau_a = 0.5 seconds), and actuators cannot change acceleration faster than 0.25 m/s² every 100 milliseconds. On top of that, wind gusts and road friction push the car. Our objective is to design a controller that guarantees collision avoidance (keeping at least 5 meters of safety distance) while strictly obeying these hardware actuator limits.'</a:t>
            </a:r>
            <a:endParaRPr lang="en-IN"/>
          </a:p>
        </p:txBody>
      </p:sp>
      <p:sp>
        <p:nvSpPr>
          <p:cNvPr id="4" name="Slide Number Placeholder 3"/>
          <p:cNvSpPr>
            <a:spLocks noGrp="1"/>
          </p:cNvSpPr>
          <p:nvPr>
            <p:ph type="sldNum" sz="quarter" idx="5"/>
          </p:nvPr>
        </p:nvSpPr>
        <p:spPr/>
        <p:txBody>
          <a:bodyPr/>
          <a:lstStyle/>
          <a:p>
            <a:fld id="{B12A59A8-F6E1-40ED-B768-7D705CC15429}" type="slidenum">
              <a:rPr lang="en-IN" smtClean="0"/>
              <a:t>2</a:t>
            </a:fld>
            <a:endParaRPr lang="en-IN"/>
          </a:p>
        </p:txBody>
      </p:sp>
    </p:spTree>
    <p:extLst>
      <p:ext uri="{BB962C8B-B14F-4D97-AF65-F5344CB8AC3E}">
        <p14:creationId xmlns:p14="http://schemas.microsoft.com/office/powerpoint/2010/main" val="34269036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SAY TO YOUR SIR:
'Sir, when we reviewed recent papers like Quan et al. (IEEE Trans. Intelligent Vehicles 2024), we uncovered two severe issues: First, standard tube MPC computes nominal input in the solver, but adds error feedback c_t OUTSIDE the solver. During hard braking, this feedback spikes and violently violates the actuator slew rate by up to 974%! Second, if you try to simply add rate limits with traditional static tubes (Variant C), the safety margins squeeze the input interval until it becomes negative (w_min = -1.60 m/s²). The solver crashes 67% of the time! This is the core research problem our paper solves.'</a:t>
            </a:r>
            <a:endParaRPr lang="en-IN"/>
          </a:p>
        </p:txBody>
      </p:sp>
      <p:sp>
        <p:nvSpPr>
          <p:cNvPr id="4" name="Slide Number Placeholder 3"/>
          <p:cNvSpPr>
            <a:spLocks noGrp="1"/>
          </p:cNvSpPr>
          <p:nvPr>
            <p:ph type="sldNum" sz="quarter" idx="5"/>
          </p:nvPr>
        </p:nvSpPr>
        <p:spPr/>
        <p:txBody>
          <a:bodyPr/>
          <a:lstStyle/>
          <a:p>
            <a:fld id="{B12A59A8-F6E1-40ED-B768-7D705CC15429}" type="slidenum">
              <a:rPr lang="en-IN" smtClean="0"/>
              <a:t>3</a:t>
            </a:fld>
            <a:endParaRPr lang="en-IN"/>
          </a:p>
        </p:txBody>
      </p:sp>
    </p:spTree>
    <p:extLst>
      <p:ext uri="{BB962C8B-B14F-4D97-AF65-F5344CB8AC3E}">
        <p14:creationId xmlns:p14="http://schemas.microsoft.com/office/powerpoint/2010/main" val="3302646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SAY TO YOUR SIR:
'Sir, to fix both problems, our framework combines four innovations: 1. Proposition 1 (Step-0 conditioning): We bound the first nominal input inside the QP so that the total applied command u_app = u_xi + c_t never exceeds the slew limit. 2. Lemma 1 (Trajectory tubes): We propagate disturbance ellipses along the actual planned trajectory rather than static worst-case bounds. This cuts conservatism by 98.2%! 3. Theorem 1 (LMI gain co-design): We synthesized gain K_opt using discrete Lyapunov LMIs, which expands our collapse safety margin by +21.66%. 4. Proposition 2 (Fallback): If an extreme emergency occurs, our backup controller decelerates monotonically without any actuator rate jumps.'</a:t>
            </a:r>
            <a:endParaRPr lang="en-IN"/>
          </a:p>
        </p:txBody>
      </p:sp>
      <p:sp>
        <p:nvSpPr>
          <p:cNvPr id="4" name="Slide Number Placeholder 3"/>
          <p:cNvSpPr>
            <a:spLocks noGrp="1"/>
          </p:cNvSpPr>
          <p:nvPr>
            <p:ph type="sldNum" sz="quarter" idx="5"/>
          </p:nvPr>
        </p:nvSpPr>
        <p:spPr/>
        <p:txBody>
          <a:bodyPr/>
          <a:lstStyle/>
          <a:p>
            <a:fld id="{B12A59A8-F6E1-40ED-B768-7D705CC15429}" type="slidenum">
              <a:rPr lang="en-IN" smtClean="0"/>
              <a:t>4</a:t>
            </a:fld>
            <a:endParaRPr lang="en-IN"/>
          </a:p>
        </p:txBody>
      </p:sp>
    </p:spTree>
    <p:extLst>
      <p:ext uri="{BB962C8B-B14F-4D97-AF65-F5344CB8AC3E}">
        <p14:creationId xmlns:p14="http://schemas.microsoft.com/office/powerpoint/2010/main" val="11168194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SAY TO YOUR SIR:
'Sir, this flowchart shows how our algorithm runs every 100 milliseconds: Radar measures relative distance and speed. Our observer estimates state and aerodynamic resistance. Then in Step 4, our Step-0 Tube QP solves for the optimal nominal input u_xi. Because we told the QP about the summing junction in Step 5, when u_applied = u_xi + K*e is sent to the car, it strictly respects the hardware slew rate! This is why our system has zero rate violations while previous papers fail.'</a:t>
            </a:r>
            <a:endParaRPr lang="en-IN"/>
          </a:p>
        </p:txBody>
      </p:sp>
      <p:sp>
        <p:nvSpPr>
          <p:cNvPr id="4" name="Slide Number Placeholder 3"/>
          <p:cNvSpPr>
            <a:spLocks noGrp="1"/>
          </p:cNvSpPr>
          <p:nvPr>
            <p:ph type="sldNum" sz="quarter" idx="5"/>
          </p:nvPr>
        </p:nvSpPr>
        <p:spPr/>
        <p:txBody>
          <a:bodyPr/>
          <a:lstStyle/>
          <a:p>
            <a:fld id="{B12A59A8-F6E1-40ED-B768-7D705CC15429}" type="slidenum">
              <a:rPr lang="en-IN" smtClean="0"/>
              <a:t>5</a:t>
            </a:fld>
            <a:endParaRPr lang="en-IN"/>
          </a:p>
        </p:txBody>
      </p:sp>
    </p:spTree>
    <p:extLst>
      <p:ext uri="{BB962C8B-B14F-4D97-AF65-F5344CB8AC3E}">
        <p14:creationId xmlns:p14="http://schemas.microsoft.com/office/powerpoint/2010/main" val="18642686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SAY TO YOUR SIR:
'Sir, this table is the core contribution of our paper: Look at Variant A: It claims 100% feasibility, but it violates the actuator slew limit by +141.6% (0.3539 m/s² vs 0.25 limit). Look at Variant C: When static rate constraints are naively added, the interval collapses to -1.60 m/s², dropping feasibility to 33.3%. Look at Variant D: Trajectory bounds help, but using the literature gain K_paper still collapses in 7 steps (86.3% feasibility). Finally, look at our proposed Variant E: By combining trajectory bounds, Step-0 conditioning, and co-designed gain K_opt, we achieve 100% feasibility with ZERO rate violations!'</a:t>
            </a:r>
            <a:endParaRPr lang="en-IN"/>
          </a:p>
        </p:txBody>
      </p:sp>
      <p:sp>
        <p:nvSpPr>
          <p:cNvPr id="4" name="Slide Number Placeholder 3"/>
          <p:cNvSpPr>
            <a:spLocks noGrp="1"/>
          </p:cNvSpPr>
          <p:nvPr>
            <p:ph type="sldNum" sz="quarter" idx="5"/>
          </p:nvPr>
        </p:nvSpPr>
        <p:spPr/>
        <p:txBody>
          <a:bodyPr/>
          <a:lstStyle/>
          <a:p>
            <a:fld id="{B12A59A8-F6E1-40ED-B768-7D705CC15429}" type="slidenum">
              <a:rPr lang="en-IN" smtClean="0"/>
              <a:t>6</a:t>
            </a:fld>
            <a:endParaRPr lang="en-IN"/>
          </a:p>
        </p:txBody>
      </p:sp>
    </p:spTree>
    <p:extLst>
      <p:ext uri="{BB962C8B-B14F-4D97-AF65-F5344CB8AC3E}">
        <p14:creationId xmlns:p14="http://schemas.microsoft.com/office/powerpoint/2010/main" val="16207828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SAY TO YOUR SIR:
'Sir, if you ask why Variant D failed 7 times while Variant E got 100%, here is the exact reason: Both variants use our trajectory bounds and step-0 rate limits. The ONLY difference is the feedback gain K. Variant D uses the literature gain K_paper. It is too aggressive, causing the uncertainty tube to balloon to 7.15, which squeezes the input width into negative (-0.08 m/s²). The solver had no valid answer for 7 steps. In Variant E, we co-designed K_opt using LMIs. This gave us +21.66% more margin and damped the tube down to 0.39. The interval never collapsed (+0.20 m/s²), achieving 100% feasibility!'</a:t>
            </a:r>
            <a:endParaRPr lang="en-IN"/>
          </a:p>
        </p:txBody>
      </p:sp>
      <p:sp>
        <p:nvSpPr>
          <p:cNvPr id="4" name="Slide Number Placeholder 3"/>
          <p:cNvSpPr>
            <a:spLocks noGrp="1"/>
          </p:cNvSpPr>
          <p:nvPr>
            <p:ph type="sldNum" sz="quarter" idx="5"/>
          </p:nvPr>
        </p:nvSpPr>
        <p:spPr/>
        <p:txBody>
          <a:bodyPr/>
          <a:lstStyle/>
          <a:p>
            <a:fld id="{B12A59A8-F6E1-40ED-B768-7D705CC15429}" type="slidenum">
              <a:rPr lang="en-IN" smtClean="0"/>
              <a:t>7</a:t>
            </a:fld>
            <a:endParaRPr lang="en-IN"/>
          </a:p>
        </p:txBody>
      </p:sp>
    </p:spTree>
    <p:extLst>
      <p:ext uri="{BB962C8B-B14F-4D97-AF65-F5344CB8AC3E}">
        <p14:creationId xmlns:p14="http://schemas.microsoft.com/office/powerpoint/2010/main" val="5347980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SAY TO YOUR SIR:
'Sir, to test our system under extreme conditions, we designed a stress matrix of 16 emergency cases, including lead vehicle emergency stops (-4 m/s²), close cut-ins, and 15 m/s wind gusts. The literature baseline from Quan et al. violated actuator slew limits in ALL 16 cases, spiking up to 2.44 m/s² (almost 10 times the limit!). Our proposed Controller C had ZERO structural slew violations across all 16 cases and safely maintained over 20 meters of clearance distance.'</a:t>
            </a:r>
            <a:endParaRPr lang="en-IN"/>
          </a:p>
        </p:txBody>
      </p:sp>
      <p:sp>
        <p:nvSpPr>
          <p:cNvPr id="4" name="Slide Number Placeholder 3"/>
          <p:cNvSpPr>
            <a:spLocks noGrp="1"/>
          </p:cNvSpPr>
          <p:nvPr>
            <p:ph type="sldNum" sz="quarter" idx="5"/>
          </p:nvPr>
        </p:nvSpPr>
        <p:spPr/>
        <p:txBody>
          <a:bodyPr/>
          <a:lstStyle/>
          <a:p>
            <a:fld id="{B12A59A8-F6E1-40ED-B768-7D705CC15429}" type="slidenum">
              <a:rPr lang="en-IN" smtClean="0"/>
              <a:t>8</a:t>
            </a:fld>
            <a:endParaRPr lang="en-IN"/>
          </a:p>
        </p:txBody>
      </p:sp>
    </p:spTree>
    <p:extLst>
      <p:ext uri="{BB962C8B-B14F-4D97-AF65-F5344CB8AC3E}">
        <p14:creationId xmlns:p14="http://schemas.microsoft.com/office/powerpoint/2010/main" val="16151211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SAY TO YOUR SIR:
'Sir, everything we developed is fully reproducible and open-source: 1. We built an interactive Highway Telemetry Dashboard hosted on GitHub Pages where anyone can test Controller A, B, and C with one click. 2. All Simulink models and MATLAB solvers are organized in our Stage 48 package, passing 26 out of 26 automated unit tests. 3. The complete paper draft is written in IEEEtran format and ready for submission to IEEE Transactions on Control Systems Technology.'</a:t>
            </a:r>
            <a:endParaRPr lang="en-IN"/>
          </a:p>
        </p:txBody>
      </p:sp>
      <p:sp>
        <p:nvSpPr>
          <p:cNvPr id="4" name="Slide Number Placeholder 3"/>
          <p:cNvSpPr>
            <a:spLocks noGrp="1"/>
          </p:cNvSpPr>
          <p:nvPr>
            <p:ph type="sldNum" sz="quarter" idx="5"/>
          </p:nvPr>
        </p:nvSpPr>
        <p:spPr/>
        <p:txBody>
          <a:bodyPr/>
          <a:lstStyle/>
          <a:p>
            <a:fld id="{B12A59A8-F6E1-40ED-B768-7D705CC15429}" type="slidenum">
              <a:rPr lang="en-IN" smtClean="0"/>
              <a:t>9</a:t>
            </a:fld>
            <a:endParaRPr lang="en-IN"/>
          </a:p>
        </p:txBody>
      </p:sp>
    </p:spTree>
    <p:extLst>
      <p:ext uri="{BB962C8B-B14F-4D97-AF65-F5344CB8AC3E}">
        <p14:creationId xmlns:p14="http://schemas.microsoft.com/office/powerpoint/2010/main" val="24077072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WHAT TO SAY TO YOUR SIR:
'In conclusion, Sir, our work successfully solves the two major roadblocks in automotive Tube MPC: First, we eliminated actuator slew violations by introducing Step-0 conditioning. Second, we solved constraint collapse by co-designing the ancillary gain with discrete Lyapunov LMIs, achieving 100% feasibility and 48% smoother control. Thank you, Sir. I would be happy to answer your questions.'</a:t>
            </a:r>
            <a:endParaRPr lang="en-IN"/>
          </a:p>
        </p:txBody>
      </p:sp>
      <p:sp>
        <p:nvSpPr>
          <p:cNvPr id="4" name="Slide Number Placeholder 3"/>
          <p:cNvSpPr>
            <a:spLocks noGrp="1"/>
          </p:cNvSpPr>
          <p:nvPr>
            <p:ph type="sldNum" sz="quarter" idx="5"/>
          </p:nvPr>
        </p:nvSpPr>
        <p:spPr/>
        <p:txBody>
          <a:bodyPr/>
          <a:lstStyle/>
          <a:p>
            <a:fld id="{B12A59A8-F6E1-40ED-B768-7D705CC15429}" type="slidenum">
              <a:rPr lang="en-IN" smtClean="0"/>
              <a:t>10</a:t>
            </a:fld>
            <a:endParaRPr lang="en-IN"/>
          </a:p>
        </p:txBody>
      </p:sp>
    </p:spTree>
    <p:extLst>
      <p:ext uri="{BB962C8B-B14F-4D97-AF65-F5344CB8AC3E}">
        <p14:creationId xmlns:p14="http://schemas.microsoft.com/office/powerpoint/2010/main" val="31311000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3D3EE-B62E-4BC9-E550-3B4D047A7F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8C2715-9486-71D4-5402-7C1C785C54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313AC3E-F5F5-B0AA-EC9C-5CA8FCC0FBDE}"/>
              </a:ext>
            </a:extLst>
          </p:cNvPr>
          <p:cNvSpPr>
            <a:spLocks noGrp="1"/>
          </p:cNvSpPr>
          <p:nvPr>
            <p:ph type="dt" sz="half" idx="10"/>
          </p:nvPr>
        </p:nvSpPr>
        <p:spPr/>
        <p:txBody>
          <a:bodyPr/>
          <a:lstStyle/>
          <a:p>
            <a:fld id="{340B1ABB-2DFF-4DBC-B480-48AF489905AE}" type="datetimeFigureOut">
              <a:rPr lang="en-IN" smtClean="0"/>
              <a:t>22-10-2026</a:t>
            </a:fld>
            <a:endParaRPr lang="en-IN"/>
          </a:p>
        </p:txBody>
      </p:sp>
      <p:sp>
        <p:nvSpPr>
          <p:cNvPr id="5" name="Footer Placeholder 4">
            <a:extLst>
              <a:ext uri="{FF2B5EF4-FFF2-40B4-BE49-F238E27FC236}">
                <a16:creationId xmlns:a16="http://schemas.microsoft.com/office/drawing/2014/main" id="{62290908-6A9A-777B-252A-F88C9D6213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6813AAA-F4AC-9321-2BAF-6B46699B2021}"/>
              </a:ext>
            </a:extLst>
          </p:cNvPr>
          <p:cNvSpPr>
            <a:spLocks noGrp="1"/>
          </p:cNvSpPr>
          <p:nvPr>
            <p:ph type="sldNum" sz="quarter" idx="12"/>
          </p:nvPr>
        </p:nvSpPr>
        <p:spPr/>
        <p:txBody>
          <a:bodyPr/>
          <a:lstStyle/>
          <a:p>
            <a:fld id="{FE0C3F60-1205-4B32-B8A3-9BC5F95EFD5D}" type="slidenum">
              <a:rPr lang="en-IN" smtClean="0"/>
              <a:t>‹#›</a:t>
            </a:fld>
            <a:endParaRPr lang="en-IN"/>
          </a:p>
        </p:txBody>
      </p:sp>
    </p:spTree>
    <p:extLst>
      <p:ext uri="{BB962C8B-B14F-4D97-AF65-F5344CB8AC3E}">
        <p14:creationId xmlns:p14="http://schemas.microsoft.com/office/powerpoint/2010/main" val="1447717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8FEF0-ED5C-6AB2-A47F-3DB6D6545D8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4BEECD-4F06-21AB-D804-C015B3A8325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382A83-F6EA-E93D-980B-E2F30EF795BE}"/>
              </a:ext>
            </a:extLst>
          </p:cNvPr>
          <p:cNvSpPr>
            <a:spLocks noGrp="1"/>
          </p:cNvSpPr>
          <p:nvPr>
            <p:ph type="dt" sz="half" idx="10"/>
          </p:nvPr>
        </p:nvSpPr>
        <p:spPr/>
        <p:txBody>
          <a:bodyPr/>
          <a:lstStyle/>
          <a:p>
            <a:fld id="{340B1ABB-2DFF-4DBC-B480-48AF489905AE}" type="datetimeFigureOut">
              <a:rPr lang="en-IN" smtClean="0"/>
              <a:t>22-10-2026</a:t>
            </a:fld>
            <a:endParaRPr lang="en-IN"/>
          </a:p>
        </p:txBody>
      </p:sp>
      <p:sp>
        <p:nvSpPr>
          <p:cNvPr id="5" name="Footer Placeholder 4">
            <a:extLst>
              <a:ext uri="{FF2B5EF4-FFF2-40B4-BE49-F238E27FC236}">
                <a16:creationId xmlns:a16="http://schemas.microsoft.com/office/drawing/2014/main" id="{BF35A7B9-FF20-8EF6-D7B7-23D6A84D15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1085C7-CBE4-1600-2743-77DAC48626ED}"/>
              </a:ext>
            </a:extLst>
          </p:cNvPr>
          <p:cNvSpPr>
            <a:spLocks noGrp="1"/>
          </p:cNvSpPr>
          <p:nvPr>
            <p:ph type="sldNum" sz="quarter" idx="12"/>
          </p:nvPr>
        </p:nvSpPr>
        <p:spPr/>
        <p:txBody>
          <a:bodyPr/>
          <a:lstStyle/>
          <a:p>
            <a:fld id="{FE0C3F60-1205-4B32-B8A3-9BC5F95EFD5D}" type="slidenum">
              <a:rPr lang="en-IN" smtClean="0"/>
              <a:t>‹#›</a:t>
            </a:fld>
            <a:endParaRPr lang="en-IN"/>
          </a:p>
        </p:txBody>
      </p:sp>
    </p:spTree>
    <p:extLst>
      <p:ext uri="{BB962C8B-B14F-4D97-AF65-F5344CB8AC3E}">
        <p14:creationId xmlns:p14="http://schemas.microsoft.com/office/powerpoint/2010/main" val="3042683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3A5B7-8AC0-3470-9C7C-819E0F7BAC5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F832201-A96B-A630-14DC-EF6E2BB6F9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4C300B9-8E00-7BC4-20BC-9CABBE0AF9BC}"/>
              </a:ext>
            </a:extLst>
          </p:cNvPr>
          <p:cNvSpPr>
            <a:spLocks noGrp="1"/>
          </p:cNvSpPr>
          <p:nvPr>
            <p:ph type="dt" sz="half" idx="10"/>
          </p:nvPr>
        </p:nvSpPr>
        <p:spPr/>
        <p:txBody>
          <a:bodyPr/>
          <a:lstStyle/>
          <a:p>
            <a:fld id="{340B1ABB-2DFF-4DBC-B480-48AF489905AE}" type="datetimeFigureOut">
              <a:rPr lang="en-IN" smtClean="0"/>
              <a:t>22-10-2026</a:t>
            </a:fld>
            <a:endParaRPr lang="en-IN"/>
          </a:p>
        </p:txBody>
      </p:sp>
      <p:sp>
        <p:nvSpPr>
          <p:cNvPr id="5" name="Footer Placeholder 4">
            <a:extLst>
              <a:ext uri="{FF2B5EF4-FFF2-40B4-BE49-F238E27FC236}">
                <a16:creationId xmlns:a16="http://schemas.microsoft.com/office/drawing/2014/main" id="{CFA6A15E-780A-A43C-36F8-0A5AE4AF4E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31F0FA6-D913-6DA3-2726-DD917FAD63FC}"/>
              </a:ext>
            </a:extLst>
          </p:cNvPr>
          <p:cNvSpPr>
            <a:spLocks noGrp="1"/>
          </p:cNvSpPr>
          <p:nvPr>
            <p:ph type="sldNum" sz="quarter" idx="12"/>
          </p:nvPr>
        </p:nvSpPr>
        <p:spPr/>
        <p:txBody>
          <a:bodyPr/>
          <a:lstStyle/>
          <a:p>
            <a:fld id="{FE0C3F60-1205-4B32-B8A3-9BC5F95EFD5D}" type="slidenum">
              <a:rPr lang="en-IN" smtClean="0"/>
              <a:t>‹#›</a:t>
            </a:fld>
            <a:endParaRPr lang="en-IN"/>
          </a:p>
        </p:txBody>
      </p:sp>
    </p:spTree>
    <p:extLst>
      <p:ext uri="{BB962C8B-B14F-4D97-AF65-F5344CB8AC3E}">
        <p14:creationId xmlns:p14="http://schemas.microsoft.com/office/powerpoint/2010/main" val="3504137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B64F07-6175-25AC-145B-EAD4957D07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458931-D01E-7AB9-DD79-A597A191FE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4E0FA9E-0167-CA5A-D4F7-4E9EBA4496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1DE5337-8948-6383-2015-DB474605FF58}"/>
              </a:ext>
            </a:extLst>
          </p:cNvPr>
          <p:cNvSpPr>
            <a:spLocks noGrp="1"/>
          </p:cNvSpPr>
          <p:nvPr>
            <p:ph type="dt" sz="half" idx="10"/>
          </p:nvPr>
        </p:nvSpPr>
        <p:spPr/>
        <p:txBody>
          <a:bodyPr/>
          <a:lstStyle/>
          <a:p>
            <a:fld id="{340B1ABB-2DFF-4DBC-B480-48AF489905AE}" type="datetimeFigureOut">
              <a:rPr lang="en-IN" smtClean="0"/>
              <a:t>22-10-2026</a:t>
            </a:fld>
            <a:endParaRPr lang="en-IN"/>
          </a:p>
        </p:txBody>
      </p:sp>
      <p:sp>
        <p:nvSpPr>
          <p:cNvPr id="6" name="Footer Placeholder 5">
            <a:extLst>
              <a:ext uri="{FF2B5EF4-FFF2-40B4-BE49-F238E27FC236}">
                <a16:creationId xmlns:a16="http://schemas.microsoft.com/office/drawing/2014/main" id="{031AA645-DB7E-7955-795A-622F82BC876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26C5976-12C1-003A-F89F-EC49F08CFFB2}"/>
              </a:ext>
            </a:extLst>
          </p:cNvPr>
          <p:cNvSpPr>
            <a:spLocks noGrp="1"/>
          </p:cNvSpPr>
          <p:nvPr>
            <p:ph type="sldNum" sz="quarter" idx="12"/>
          </p:nvPr>
        </p:nvSpPr>
        <p:spPr/>
        <p:txBody>
          <a:bodyPr/>
          <a:lstStyle/>
          <a:p>
            <a:fld id="{FE0C3F60-1205-4B32-B8A3-9BC5F95EFD5D}" type="slidenum">
              <a:rPr lang="en-IN" smtClean="0"/>
              <a:t>‹#›</a:t>
            </a:fld>
            <a:endParaRPr lang="en-IN"/>
          </a:p>
        </p:txBody>
      </p:sp>
    </p:spTree>
    <p:extLst>
      <p:ext uri="{BB962C8B-B14F-4D97-AF65-F5344CB8AC3E}">
        <p14:creationId xmlns:p14="http://schemas.microsoft.com/office/powerpoint/2010/main" val="3053062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90553-0CBC-5133-C505-A6CDEDB7DBE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BC4404-1992-6240-C893-FAD6472BF7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232337-818E-A4E3-1532-A9CBC1AB9D1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41429D7-2A6B-3F2A-71EE-7595A29791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56A351-3AF7-672D-F79E-7A3417E838A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7D837BD-4277-F674-16EE-C6ED0792EE8C}"/>
              </a:ext>
            </a:extLst>
          </p:cNvPr>
          <p:cNvSpPr>
            <a:spLocks noGrp="1"/>
          </p:cNvSpPr>
          <p:nvPr>
            <p:ph type="dt" sz="half" idx="10"/>
          </p:nvPr>
        </p:nvSpPr>
        <p:spPr/>
        <p:txBody>
          <a:bodyPr/>
          <a:lstStyle/>
          <a:p>
            <a:fld id="{340B1ABB-2DFF-4DBC-B480-48AF489905AE}" type="datetimeFigureOut">
              <a:rPr lang="en-IN" smtClean="0"/>
              <a:t>22-10-2026</a:t>
            </a:fld>
            <a:endParaRPr lang="en-IN"/>
          </a:p>
        </p:txBody>
      </p:sp>
      <p:sp>
        <p:nvSpPr>
          <p:cNvPr id="8" name="Footer Placeholder 7">
            <a:extLst>
              <a:ext uri="{FF2B5EF4-FFF2-40B4-BE49-F238E27FC236}">
                <a16:creationId xmlns:a16="http://schemas.microsoft.com/office/drawing/2014/main" id="{960C80BC-AD73-7AE8-5BF6-D104165E123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0B1591C-C7D0-A4C0-1641-C5C01378BE7E}"/>
              </a:ext>
            </a:extLst>
          </p:cNvPr>
          <p:cNvSpPr>
            <a:spLocks noGrp="1"/>
          </p:cNvSpPr>
          <p:nvPr>
            <p:ph type="sldNum" sz="quarter" idx="12"/>
          </p:nvPr>
        </p:nvSpPr>
        <p:spPr/>
        <p:txBody>
          <a:bodyPr/>
          <a:lstStyle/>
          <a:p>
            <a:fld id="{FE0C3F60-1205-4B32-B8A3-9BC5F95EFD5D}" type="slidenum">
              <a:rPr lang="en-IN" smtClean="0"/>
              <a:t>‹#›</a:t>
            </a:fld>
            <a:endParaRPr lang="en-IN"/>
          </a:p>
        </p:txBody>
      </p:sp>
    </p:spTree>
    <p:extLst>
      <p:ext uri="{BB962C8B-B14F-4D97-AF65-F5344CB8AC3E}">
        <p14:creationId xmlns:p14="http://schemas.microsoft.com/office/powerpoint/2010/main" val="1732196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59CBD-3B3C-16F6-13E1-A7357CBFCCC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166113-9CDE-823F-095E-45E4B201D003}"/>
              </a:ext>
            </a:extLst>
          </p:cNvPr>
          <p:cNvSpPr>
            <a:spLocks noGrp="1"/>
          </p:cNvSpPr>
          <p:nvPr>
            <p:ph type="dt" sz="half" idx="10"/>
          </p:nvPr>
        </p:nvSpPr>
        <p:spPr/>
        <p:txBody>
          <a:bodyPr/>
          <a:lstStyle/>
          <a:p>
            <a:fld id="{340B1ABB-2DFF-4DBC-B480-48AF489905AE}" type="datetimeFigureOut">
              <a:rPr lang="en-IN" smtClean="0"/>
              <a:t>22-10-2026</a:t>
            </a:fld>
            <a:endParaRPr lang="en-IN"/>
          </a:p>
        </p:txBody>
      </p:sp>
      <p:sp>
        <p:nvSpPr>
          <p:cNvPr id="4" name="Footer Placeholder 3">
            <a:extLst>
              <a:ext uri="{FF2B5EF4-FFF2-40B4-BE49-F238E27FC236}">
                <a16:creationId xmlns:a16="http://schemas.microsoft.com/office/drawing/2014/main" id="{626D1586-0FC1-578E-640C-B5762A6398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A6B521B-3267-CE52-522F-FBF6D653E8FF}"/>
              </a:ext>
            </a:extLst>
          </p:cNvPr>
          <p:cNvSpPr>
            <a:spLocks noGrp="1"/>
          </p:cNvSpPr>
          <p:nvPr>
            <p:ph type="sldNum" sz="quarter" idx="12"/>
          </p:nvPr>
        </p:nvSpPr>
        <p:spPr/>
        <p:txBody>
          <a:bodyPr/>
          <a:lstStyle/>
          <a:p>
            <a:fld id="{FE0C3F60-1205-4B32-B8A3-9BC5F95EFD5D}" type="slidenum">
              <a:rPr lang="en-IN" smtClean="0"/>
              <a:t>‹#›</a:t>
            </a:fld>
            <a:endParaRPr lang="en-IN"/>
          </a:p>
        </p:txBody>
      </p:sp>
    </p:spTree>
    <p:extLst>
      <p:ext uri="{BB962C8B-B14F-4D97-AF65-F5344CB8AC3E}">
        <p14:creationId xmlns:p14="http://schemas.microsoft.com/office/powerpoint/2010/main" val="211956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E463F1-3220-9EB0-7220-80C954373587}"/>
              </a:ext>
            </a:extLst>
          </p:cNvPr>
          <p:cNvSpPr>
            <a:spLocks noGrp="1"/>
          </p:cNvSpPr>
          <p:nvPr>
            <p:ph type="dt" sz="half" idx="10"/>
          </p:nvPr>
        </p:nvSpPr>
        <p:spPr/>
        <p:txBody>
          <a:bodyPr/>
          <a:lstStyle/>
          <a:p>
            <a:fld id="{340B1ABB-2DFF-4DBC-B480-48AF489905AE}" type="datetimeFigureOut">
              <a:rPr lang="en-IN" smtClean="0"/>
              <a:t>22-10-2026</a:t>
            </a:fld>
            <a:endParaRPr lang="en-IN"/>
          </a:p>
        </p:txBody>
      </p:sp>
      <p:sp>
        <p:nvSpPr>
          <p:cNvPr id="3" name="Footer Placeholder 2">
            <a:extLst>
              <a:ext uri="{FF2B5EF4-FFF2-40B4-BE49-F238E27FC236}">
                <a16:creationId xmlns:a16="http://schemas.microsoft.com/office/drawing/2014/main" id="{50BDBE3C-C2F5-4BA2-F640-A1679D6080B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43F7093-8B58-0C9B-6C1C-AFEE9A63EAB2}"/>
              </a:ext>
            </a:extLst>
          </p:cNvPr>
          <p:cNvSpPr>
            <a:spLocks noGrp="1"/>
          </p:cNvSpPr>
          <p:nvPr>
            <p:ph type="sldNum" sz="quarter" idx="12"/>
          </p:nvPr>
        </p:nvSpPr>
        <p:spPr/>
        <p:txBody>
          <a:bodyPr/>
          <a:lstStyle/>
          <a:p>
            <a:fld id="{FE0C3F60-1205-4B32-B8A3-9BC5F95EFD5D}" type="slidenum">
              <a:rPr lang="en-IN" smtClean="0"/>
              <a:t>‹#›</a:t>
            </a:fld>
            <a:endParaRPr lang="en-IN"/>
          </a:p>
        </p:txBody>
      </p:sp>
    </p:spTree>
    <p:extLst>
      <p:ext uri="{BB962C8B-B14F-4D97-AF65-F5344CB8AC3E}">
        <p14:creationId xmlns:p14="http://schemas.microsoft.com/office/powerpoint/2010/main" val="20850636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B54EB-165F-1172-5263-6D0B80CDFF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14ABABD-1421-B542-B91B-F95CF8F511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443355F-66EC-3FC0-CA72-76A2636CCC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663AD5-E7BE-D626-7509-82E22652ECAA}"/>
              </a:ext>
            </a:extLst>
          </p:cNvPr>
          <p:cNvSpPr>
            <a:spLocks noGrp="1"/>
          </p:cNvSpPr>
          <p:nvPr>
            <p:ph type="dt" sz="half" idx="10"/>
          </p:nvPr>
        </p:nvSpPr>
        <p:spPr/>
        <p:txBody>
          <a:bodyPr/>
          <a:lstStyle/>
          <a:p>
            <a:fld id="{340B1ABB-2DFF-4DBC-B480-48AF489905AE}" type="datetimeFigureOut">
              <a:rPr lang="en-IN" smtClean="0"/>
              <a:t>22-10-2026</a:t>
            </a:fld>
            <a:endParaRPr lang="en-IN"/>
          </a:p>
        </p:txBody>
      </p:sp>
      <p:sp>
        <p:nvSpPr>
          <p:cNvPr id="6" name="Footer Placeholder 5">
            <a:extLst>
              <a:ext uri="{FF2B5EF4-FFF2-40B4-BE49-F238E27FC236}">
                <a16:creationId xmlns:a16="http://schemas.microsoft.com/office/drawing/2014/main" id="{85F749BF-1166-2791-904B-64745D32F1A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7B5809D-87AD-CF20-91C6-26366891BCE4}"/>
              </a:ext>
            </a:extLst>
          </p:cNvPr>
          <p:cNvSpPr>
            <a:spLocks noGrp="1"/>
          </p:cNvSpPr>
          <p:nvPr>
            <p:ph type="sldNum" sz="quarter" idx="12"/>
          </p:nvPr>
        </p:nvSpPr>
        <p:spPr/>
        <p:txBody>
          <a:bodyPr/>
          <a:lstStyle/>
          <a:p>
            <a:fld id="{FE0C3F60-1205-4B32-B8A3-9BC5F95EFD5D}" type="slidenum">
              <a:rPr lang="en-IN" smtClean="0"/>
              <a:t>‹#›</a:t>
            </a:fld>
            <a:endParaRPr lang="en-IN"/>
          </a:p>
        </p:txBody>
      </p:sp>
    </p:spTree>
    <p:extLst>
      <p:ext uri="{BB962C8B-B14F-4D97-AF65-F5344CB8AC3E}">
        <p14:creationId xmlns:p14="http://schemas.microsoft.com/office/powerpoint/2010/main" val="40334132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4BCA8-EA18-134C-FA61-03BDFEAA95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201E564-B914-2A7E-0138-263ED2066D00}"/>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BA5EB25-9CC3-0F5A-8C20-3ADA2F77F7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D64BFB6-A0AB-266F-7D1F-E8D4CDCC2DA2}"/>
              </a:ext>
            </a:extLst>
          </p:cNvPr>
          <p:cNvSpPr>
            <a:spLocks noGrp="1"/>
          </p:cNvSpPr>
          <p:nvPr>
            <p:ph type="dt" sz="half" idx="10"/>
          </p:nvPr>
        </p:nvSpPr>
        <p:spPr/>
        <p:txBody>
          <a:bodyPr/>
          <a:lstStyle/>
          <a:p>
            <a:fld id="{340B1ABB-2DFF-4DBC-B480-48AF489905AE}" type="datetimeFigureOut">
              <a:rPr lang="en-IN" smtClean="0"/>
              <a:t>22-10-2026</a:t>
            </a:fld>
            <a:endParaRPr lang="en-IN"/>
          </a:p>
        </p:txBody>
      </p:sp>
      <p:sp>
        <p:nvSpPr>
          <p:cNvPr id="6" name="Footer Placeholder 5">
            <a:extLst>
              <a:ext uri="{FF2B5EF4-FFF2-40B4-BE49-F238E27FC236}">
                <a16:creationId xmlns:a16="http://schemas.microsoft.com/office/drawing/2014/main" id="{607AE643-D9E5-C0CA-20EF-1313391A47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41323D0-0738-B880-DBA0-C6BAE483A76A}"/>
              </a:ext>
            </a:extLst>
          </p:cNvPr>
          <p:cNvSpPr>
            <a:spLocks noGrp="1"/>
          </p:cNvSpPr>
          <p:nvPr>
            <p:ph type="sldNum" sz="quarter" idx="12"/>
          </p:nvPr>
        </p:nvSpPr>
        <p:spPr/>
        <p:txBody>
          <a:bodyPr/>
          <a:lstStyle/>
          <a:p>
            <a:fld id="{FE0C3F60-1205-4B32-B8A3-9BC5F95EFD5D}" type="slidenum">
              <a:rPr lang="en-IN" smtClean="0"/>
              <a:t>‹#›</a:t>
            </a:fld>
            <a:endParaRPr lang="en-IN"/>
          </a:p>
        </p:txBody>
      </p:sp>
    </p:spTree>
    <p:extLst>
      <p:ext uri="{BB962C8B-B14F-4D97-AF65-F5344CB8AC3E}">
        <p14:creationId xmlns:p14="http://schemas.microsoft.com/office/powerpoint/2010/main" val="14743188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F5C4E-D7C0-D52F-A9EE-DDC61E2272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6A45D2-2F6F-A523-6C40-7466F6DD26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9FCBA89-874E-DDED-7D94-90C277D10B45}"/>
              </a:ext>
            </a:extLst>
          </p:cNvPr>
          <p:cNvSpPr>
            <a:spLocks noGrp="1"/>
          </p:cNvSpPr>
          <p:nvPr>
            <p:ph type="dt" sz="half" idx="10"/>
          </p:nvPr>
        </p:nvSpPr>
        <p:spPr/>
        <p:txBody>
          <a:bodyPr/>
          <a:lstStyle/>
          <a:p>
            <a:fld id="{340B1ABB-2DFF-4DBC-B480-48AF489905AE}" type="datetimeFigureOut">
              <a:rPr lang="en-IN" smtClean="0"/>
              <a:t>22-10-2026</a:t>
            </a:fld>
            <a:endParaRPr lang="en-IN"/>
          </a:p>
        </p:txBody>
      </p:sp>
      <p:sp>
        <p:nvSpPr>
          <p:cNvPr id="5" name="Footer Placeholder 4">
            <a:extLst>
              <a:ext uri="{FF2B5EF4-FFF2-40B4-BE49-F238E27FC236}">
                <a16:creationId xmlns:a16="http://schemas.microsoft.com/office/drawing/2014/main" id="{CEA7FFA5-E4BF-968E-0BEB-83AAE6493E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7AE48D-CF3C-519E-D246-7B0F3140E5D4}"/>
              </a:ext>
            </a:extLst>
          </p:cNvPr>
          <p:cNvSpPr>
            <a:spLocks noGrp="1"/>
          </p:cNvSpPr>
          <p:nvPr>
            <p:ph type="sldNum" sz="quarter" idx="12"/>
          </p:nvPr>
        </p:nvSpPr>
        <p:spPr/>
        <p:txBody>
          <a:bodyPr/>
          <a:lstStyle/>
          <a:p>
            <a:fld id="{FE0C3F60-1205-4B32-B8A3-9BC5F95EFD5D}" type="slidenum">
              <a:rPr lang="en-IN" smtClean="0"/>
              <a:t>‹#›</a:t>
            </a:fld>
            <a:endParaRPr lang="en-IN"/>
          </a:p>
        </p:txBody>
      </p:sp>
    </p:spTree>
    <p:extLst>
      <p:ext uri="{BB962C8B-B14F-4D97-AF65-F5344CB8AC3E}">
        <p14:creationId xmlns:p14="http://schemas.microsoft.com/office/powerpoint/2010/main" val="4020194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19680B-A24E-F108-3AB2-DAD39DEC87F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BC267DD-2BA8-547A-FD59-6BBB2A019AB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7B3375-0A05-EFF7-6E0A-4EDC3FAD8566}"/>
              </a:ext>
            </a:extLst>
          </p:cNvPr>
          <p:cNvSpPr>
            <a:spLocks noGrp="1"/>
          </p:cNvSpPr>
          <p:nvPr>
            <p:ph type="dt" sz="half" idx="10"/>
          </p:nvPr>
        </p:nvSpPr>
        <p:spPr/>
        <p:txBody>
          <a:bodyPr/>
          <a:lstStyle/>
          <a:p>
            <a:fld id="{340B1ABB-2DFF-4DBC-B480-48AF489905AE}" type="datetimeFigureOut">
              <a:rPr lang="en-IN" smtClean="0"/>
              <a:t>22-10-2026</a:t>
            </a:fld>
            <a:endParaRPr lang="en-IN"/>
          </a:p>
        </p:txBody>
      </p:sp>
      <p:sp>
        <p:nvSpPr>
          <p:cNvPr id="5" name="Footer Placeholder 4">
            <a:extLst>
              <a:ext uri="{FF2B5EF4-FFF2-40B4-BE49-F238E27FC236}">
                <a16:creationId xmlns:a16="http://schemas.microsoft.com/office/drawing/2014/main" id="{164C4833-81BB-058E-A6EE-C7B3F8CB274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1DAFC6-E51E-B39E-F099-1D32B9F05BA9}"/>
              </a:ext>
            </a:extLst>
          </p:cNvPr>
          <p:cNvSpPr>
            <a:spLocks noGrp="1"/>
          </p:cNvSpPr>
          <p:nvPr>
            <p:ph type="sldNum" sz="quarter" idx="12"/>
          </p:nvPr>
        </p:nvSpPr>
        <p:spPr/>
        <p:txBody>
          <a:bodyPr/>
          <a:lstStyle/>
          <a:p>
            <a:fld id="{FE0C3F60-1205-4B32-B8A3-9BC5F95EFD5D}" type="slidenum">
              <a:rPr lang="en-IN" smtClean="0"/>
              <a:t>‹#›</a:t>
            </a:fld>
            <a:endParaRPr lang="en-IN"/>
          </a:p>
        </p:txBody>
      </p:sp>
    </p:spTree>
    <p:extLst>
      <p:ext uri="{BB962C8B-B14F-4D97-AF65-F5344CB8AC3E}">
        <p14:creationId xmlns:p14="http://schemas.microsoft.com/office/powerpoint/2010/main" val="3974414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90E6E3-0727-81CD-E436-F8AD496727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AB89299-652E-E907-258D-B0397B6D41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AB759D-4292-DF05-5E37-F292CDFF8A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0B1ABB-2DFF-4DBC-B480-48AF489905AE}" type="datetimeFigureOut">
              <a:rPr lang="en-IN" smtClean="0"/>
              <a:t>22-10-2026</a:t>
            </a:fld>
            <a:endParaRPr lang="en-IN"/>
          </a:p>
        </p:txBody>
      </p:sp>
      <p:sp>
        <p:nvSpPr>
          <p:cNvPr id="5" name="Footer Placeholder 4">
            <a:extLst>
              <a:ext uri="{FF2B5EF4-FFF2-40B4-BE49-F238E27FC236}">
                <a16:creationId xmlns:a16="http://schemas.microsoft.com/office/drawing/2014/main" id="{7755CECF-D35B-C2DC-5B4D-5D09EF3D9D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BDD0638-5A62-CE32-43AD-E3D1C01256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0C3F60-1205-4B32-B8A3-9BC5F95EFD5D}" type="slidenum">
              <a:rPr lang="en-IN" smtClean="0"/>
              <a:t>‹#›</a:t>
            </a:fld>
            <a:endParaRPr lang="en-IN"/>
          </a:p>
        </p:txBody>
      </p:sp>
    </p:spTree>
    <p:extLst>
      <p:ext uri="{BB962C8B-B14F-4D97-AF65-F5344CB8AC3E}">
        <p14:creationId xmlns:p14="http://schemas.microsoft.com/office/powerpoint/2010/main" val="826453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612137-C9DA-E8EF-5182-CBE3392DE9DF}"/>
              </a:ext>
            </a:extLst>
          </p:cNvPr>
          <p:cNvSpPr/>
          <p:nvPr/>
        </p:nvSpPr>
        <p:spPr>
          <a:xfrm>
            <a:off x="635000" y="762000"/>
            <a:ext cx="4064000" cy="355600"/>
          </a:xfrm>
          <a:prstGeom prst="rect">
            <a:avLst/>
          </a:prstGeom>
          <a:solidFill>
            <a:srgbClr val="16273D"/>
          </a:solidFill>
          <a:ln>
            <a:solidFill>
              <a:srgbClr val="06B6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06B6D2"/>
                </a:solidFill>
                <a:latin typeface="Segoe UI" panose="020B0502040204020203" pitchFamily="34" charset="0"/>
              </a:rPr>
              <a:t>IEEE TCST SUBMISSION • AVCL RESEARCH</a:t>
            </a:r>
            <a:endParaRPr lang="en-IN" sz="1000" b="1">
              <a:solidFill>
                <a:srgbClr val="06B6D2"/>
              </a:solidFill>
              <a:latin typeface="Segoe UI" panose="020B0502040204020203" pitchFamily="34" charset="0"/>
            </a:endParaRPr>
          </a:p>
        </p:txBody>
      </p:sp>
      <p:sp>
        <p:nvSpPr>
          <p:cNvPr id="3" name="TextBox 2">
            <a:extLst>
              <a:ext uri="{FF2B5EF4-FFF2-40B4-BE49-F238E27FC236}">
                <a16:creationId xmlns:a16="http://schemas.microsoft.com/office/drawing/2014/main" id="{EEA47D21-9864-CFA9-77C8-345043E401C1}"/>
              </a:ext>
            </a:extLst>
          </p:cNvPr>
          <p:cNvSpPr txBox="1"/>
          <p:nvPr/>
        </p:nvSpPr>
        <p:spPr>
          <a:xfrm>
            <a:off x="635000" y="1397000"/>
            <a:ext cx="10922000" cy="1200329"/>
          </a:xfrm>
          <a:prstGeom prst="rect">
            <a:avLst/>
          </a:prstGeom>
          <a:noFill/>
        </p:spPr>
        <p:txBody>
          <a:bodyPr vert="horz" rtlCol="0">
            <a:spAutoFit/>
          </a:bodyPr>
          <a:lstStyle/>
          <a:p>
            <a:r>
              <a:rPr lang="en-IN" sz="3600" b="1">
                <a:solidFill>
                  <a:srgbClr val="FFFFFF"/>
                </a:solidFill>
                <a:latin typeface="Segoe UI" panose="020B0502040204020203" pitchFamily="34" charset="0"/>
              </a:rPr>
              <a:t>Robust Tube Model Predictive Control
for Adaptive Cruise Control</a:t>
            </a:r>
          </a:p>
        </p:txBody>
      </p:sp>
      <p:sp>
        <p:nvSpPr>
          <p:cNvPr id="4" name="TextBox 3">
            <a:extLst>
              <a:ext uri="{FF2B5EF4-FFF2-40B4-BE49-F238E27FC236}">
                <a16:creationId xmlns:a16="http://schemas.microsoft.com/office/drawing/2014/main" id="{1E36E4F2-C089-F157-4C33-536A74BE6F32}"/>
              </a:ext>
            </a:extLst>
          </p:cNvPr>
          <p:cNvSpPr txBox="1"/>
          <p:nvPr/>
        </p:nvSpPr>
        <p:spPr>
          <a:xfrm>
            <a:off x="635000" y="3048000"/>
            <a:ext cx="10922000" cy="584775"/>
          </a:xfrm>
          <a:prstGeom prst="rect">
            <a:avLst/>
          </a:prstGeom>
          <a:noFill/>
        </p:spPr>
        <p:txBody>
          <a:bodyPr vert="horz" rtlCol="0">
            <a:spAutoFit/>
          </a:bodyPr>
          <a:lstStyle/>
          <a:p>
            <a:r>
              <a:rPr lang="en-US" sz="1600">
                <a:solidFill>
                  <a:srgbClr val="BAC5D0"/>
                </a:solidFill>
                <a:latin typeface="Segoe UI" panose="020B0502040204020203" pitchFamily="34" charset="0"/>
              </a:rPr>
              <a:t>Solving Physical Actuator Slew Violations and Constraint Collapse
Under Powertrain Lag and Persistent Disturbances</a:t>
            </a:r>
            <a:endParaRPr lang="en-IN" sz="1600">
              <a:solidFill>
                <a:srgbClr val="BAC5D0"/>
              </a:solidFill>
              <a:latin typeface="Segoe UI" panose="020B0502040204020203" pitchFamily="34" charset="0"/>
            </a:endParaRPr>
          </a:p>
        </p:txBody>
      </p:sp>
      <p:sp>
        <p:nvSpPr>
          <p:cNvPr id="5" name="TextBox 4">
            <a:extLst>
              <a:ext uri="{FF2B5EF4-FFF2-40B4-BE49-F238E27FC236}">
                <a16:creationId xmlns:a16="http://schemas.microsoft.com/office/drawing/2014/main" id="{9E7F3AA9-C4AF-9538-CE25-BA31414E3894}"/>
              </a:ext>
            </a:extLst>
          </p:cNvPr>
          <p:cNvSpPr txBox="1"/>
          <p:nvPr/>
        </p:nvSpPr>
        <p:spPr>
          <a:xfrm>
            <a:off x="635000" y="4826000"/>
            <a:ext cx="6350000" cy="738664"/>
          </a:xfrm>
          <a:prstGeom prst="rect">
            <a:avLst/>
          </a:prstGeom>
          <a:noFill/>
        </p:spPr>
        <p:txBody>
          <a:bodyPr vert="horz" rtlCol="0">
            <a:spAutoFit/>
          </a:bodyPr>
          <a:lstStyle/>
          <a:p>
            <a:r>
              <a:rPr lang="en-US" sz="1400">
                <a:solidFill>
                  <a:srgbClr val="8A95A0"/>
                </a:solidFill>
                <a:latin typeface="Segoe UI" panose="020B0502040204020203" pitchFamily="34" charset="0"/>
              </a:rPr>
              <a:t>Author: Avinash K.
Department of Electrical Engineering
Advanced Vehicle Control Laboratory (AVCL)</a:t>
            </a:r>
            <a:endParaRPr lang="en-IN" sz="1400">
              <a:solidFill>
                <a:srgbClr val="8A95A0"/>
              </a:solidFill>
              <a:latin typeface="Segoe UI" panose="020B0502040204020203" pitchFamily="34" charset="0"/>
            </a:endParaRPr>
          </a:p>
        </p:txBody>
      </p:sp>
      <p:sp>
        <p:nvSpPr>
          <p:cNvPr id="6" name="Rectangle 5">
            <a:extLst>
              <a:ext uri="{FF2B5EF4-FFF2-40B4-BE49-F238E27FC236}">
                <a16:creationId xmlns:a16="http://schemas.microsoft.com/office/drawing/2014/main" id="{392E23B7-1977-15F1-6EA4-BD9C03C1E62E}"/>
              </a:ext>
            </a:extLst>
          </p:cNvPr>
          <p:cNvSpPr/>
          <p:nvPr/>
        </p:nvSpPr>
        <p:spPr>
          <a:xfrm>
            <a:off x="7874000" y="4699000"/>
            <a:ext cx="1651000" cy="1016000"/>
          </a:xfrm>
          <a:prstGeom prst="rect">
            <a:avLst/>
          </a:prstGeom>
          <a:solidFill>
            <a:srgbClr val="161D24"/>
          </a:solidFill>
          <a:ln>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500" b="1">
                <a:solidFill>
                  <a:srgbClr val="10B981"/>
                </a:solidFill>
              </a:rPr>
              <a:t>100.0%
Feasibility</a:t>
            </a:r>
          </a:p>
        </p:txBody>
      </p:sp>
      <p:sp>
        <p:nvSpPr>
          <p:cNvPr id="7" name="Rectangle 6">
            <a:extLst>
              <a:ext uri="{FF2B5EF4-FFF2-40B4-BE49-F238E27FC236}">
                <a16:creationId xmlns:a16="http://schemas.microsoft.com/office/drawing/2014/main" id="{8BE43CE9-15D6-B512-E0AE-E7BC33B4992F}"/>
              </a:ext>
            </a:extLst>
          </p:cNvPr>
          <p:cNvSpPr/>
          <p:nvPr/>
        </p:nvSpPr>
        <p:spPr>
          <a:xfrm>
            <a:off x="9779000" y="4699000"/>
            <a:ext cx="1778000" cy="1016000"/>
          </a:xfrm>
          <a:prstGeom prst="rect">
            <a:avLst/>
          </a:prstGeom>
          <a:solidFill>
            <a:srgbClr val="161D24"/>
          </a:solidFill>
          <a:ln>
            <a:solidFill>
              <a:srgbClr val="06B6D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a:solidFill>
                  <a:srgbClr val="06B6D2"/>
                </a:solidFill>
              </a:rPr>
              <a:t>0.0000 m/s²
Rate Violations</a:t>
            </a:r>
            <a:endParaRPr lang="en-IN" sz="1400" b="1">
              <a:solidFill>
                <a:srgbClr val="06B6D2"/>
              </a:solidFill>
            </a:endParaRPr>
          </a:p>
        </p:txBody>
      </p:sp>
    </p:spTree>
    <p:extLst>
      <p:ext uri="{BB962C8B-B14F-4D97-AF65-F5344CB8AC3E}">
        <p14:creationId xmlns:p14="http://schemas.microsoft.com/office/powerpoint/2010/main" val="2953749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807E08-981D-3705-E7CD-C9087B26DA14}"/>
              </a:ext>
            </a:extLst>
          </p:cNvPr>
          <p:cNvSpPr txBox="1"/>
          <p:nvPr/>
        </p:nvSpPr>
        <p:spPr>
          <a:xfrm>
            <a:off x="635000" y="317500"/>
            <a:ext cx="10922000" cy="200055"/>
          </a:xfrm>
          <a:prstGeom prst="rect">
            <a:avLst/>
          </a:prstGeom>
          <a:noFill/>
        </p:spPr>
        <p:txBody>
          <a:bodyPr vert="horz" lIns="0" tIns="0" rtlCol="0">
            <a:spAutoFit/>
          </a:bodyPr>
          <a:lstStyle/>
          <a:p>
            <a:r>
              <a:rPr lang="en-IN" sz="1000" b="1">
                <a:solidFill>
                  <a:srgbClr val="06B6D2"/>
                </a:solidFill>
                <a:latin typeface="Segoe UI" panose="020B0502040204020203" pitchFamily="34" charset="0"/>
              </a:rPr>
              <a:t>MOTIVATION &amp; CHALLENGE</a:t>
            </a:r>
          </a:p>
        </p:txBody>
      </p:sp>
      <p:sp>
        <p:nvSpPr>
          <p:cNvPr id="3" name="TextBox 2">
            <a:extLst>
              <a:ext uri="{FF2B5EF4-FFF2-40B4-BE49-F238E27FC236}">
                <a16:creationId xmlns:a16="http://schemas.microsoft.com/office/drawing/2014/main" id="{CF97FE2C-4813-4012-35F4-A3EC127D8986}"/>
              </a:ext>
            </a:extLst>
          </p:cNvPr>
          <p:cNvSpPr txBox="1"/>
          <p:nvPr/>
        </p:nvSpPr>
        <p:spPr>
          <a:xfrm>
            <a:off x="635000" y="571500"/>
            <a:ext cx="10922000" cy="384721"/>
          </a:xfrm>
          <a:prstGeom prst="rect">
            <a:avLst/>
          </a:prstGeom>
          <a:noFill/>
        </p:spPr>
        <p:txBody>
          <a:bodyPr vert="horz" lIns="0" tIns="0" rtlCol="0">
            <a:spAutoFit/>
          </a:bodyPr>
          <a:lstStyle/>
          <a:p>
            <a:r>
              <a:rPr lang="en-US" sz="2200" b="1">
                <a:solidFill>
                  <a:srgbClr val="0F1A2D"/>
                </a:solidFill>
                <a:latin typeface="Segoe UI Semibold" panose="020B0702040204020203" pitchFamily="34" charset="0"/>
              </a:rPr>
              <a:t>The Problem: Why ACC Needs Robust Control</a:t>
            </a:r>
            <a:endParaRPr lang="en-IN" sz="2200" b="1">
              <a:solidFill>
                <a:srgbClr val="0F1A2D"/>
              </a:solidFill>
              <a:latin typeface="Segoe UI Semibold" panose="020B0702040204020203" pitchFamily="34" charset="0"/>
            </a:endParaRPr>
          </a:p>
        </p:txBody>
      </p:sp>
      <p:sp>
        <p:nvSpPr>
          <p:cNvPr id="4" name="Rectangle 3">
            <a:extLst>
              <a:ext uri="{FF2B5EF4-FFF2-40B4-BE49-F238E27FC236}">
                <a16:creationId xmlns:a16="http://schemas.microsoft.com/office/drawing/2014/main" id="{28BEA920-875F-BD19-D126-3FE2FD35961C}"/>
              </a:ext>
            </a:extLst>
          </p:cNvPr>
          <p:cNvSpPr/>
          <p:nvPr/>
        </p:nvSpPr>
        <p:spPr>
          <a:xfrm>
            <a:off x="635000" y="1397000"/>
            <a:ext cx="5207000" cy="4826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254000" tIns="254000" rIns="254000" rtlCol="0" anchor="ctr"/>
          <a:lstStyle/>
          <a:p>
            <a:pPr algn="ctr"/>
            <a:r>
              <a:rPr lang="en-US" sz="1300">
                <a:solidFill>
                  <a:srgbClr val="0F1A2D"/>
                </a:solidFill>
                <a:latin typeface="Segoe UI" panose="020B0502040204020203" pitchFamily="34" charset="0"/>
              </a:rPr>
              <a:t>Real-World Vehicle Constraints:
• Powertrain Lag (tau_a = 0.5s):
  When the computer commands acceleration, the engine takes 0.5 seconds to build torque. It cannot react instantly.
• Actuator Slew Rate Limit (?u_max = 0.25 m/s²):
  The engine/brake actuators have a maximum physical speed (jerk limit = 2.5 m/s³). If commanded faster, the hardware saturates and chatters.
• External Disturbances:
  Wind gusts (up to 15 m/s), road slope variations, and model mismatches push the vehicle off-target.</a:t>
            </a:r>
            <a:endParaRPr lang="en-IN" sz="1300">
              <a:solidFill>
                <a:srgbClr val="0F1A2D"/>
              </a:solidFill>
              <a:latin typeface="Segoe UI" panose="020B0502040204020203" pitchFamily="34" charset="0"/>
            </a:endParaRPr>
          </a:p>
        </p:txBody>
      </p:sp>
      <p:sp>
        <p:nvSpPr>
          <p:cNvPr id="5" name="Rectangle 4">
            <a:extLst>
              <a:ext uri="{FF2B5EF4-FFF2-40B4-BE49-F238E27FC236}">
                <a16:creationId xmlns:a16="http://schemas.microsoft.com/office/drawing/2014/main" id="{B49EB845-0037-EBF2-FAD6-A6FBDA4CEFAB}"/>
              </a:ext>
            </a:extLst>
          </p:cNvPr>
          <p:cNvSpPr/>
          <p:nvPr/>
        </p:nvSpPr>
        <p:spPr>
          <a:xfrm>
            <a:off x="6223000" y="1397000"/>
            <a:ext cx="5334000" cy="4826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254000" tIns="254000" rIns="254000" rtlCol="0" anchor="ctr"/>
          <a:lstStyle/>
          <a:p>
            <a:pPr algn="ctr"/>
            <a:r>
              <a:rPr lang="en-US" sz="1300">
                <a:solidFill>
                  <a:srgbClr val="0F1A2D"/>
                </a:solidFill>
                <a:latin typeface="Segoe UI" panose="020B0502040204020203" pitchFamily="34" charset="0"/>
              </a:rPr>
              <a:t>What the Controller Must Guarantee:
1. Safety First (Collision Avoidance):
   Maintain clearance distance l(t) &gt;= 5.0 m standstill clearance under all conditions.
2. Smooth Passenger Ride:
   Follow time headway tau_h = 1.5s smoothly without sudden jerking or passenger discomfort.
3. Hardware Respect:
   Keep physical commands within acceleration bounds [-3.0, +2.5] m/s² and slew limits 0.25 m/s² per 100ms.
4. Computational Reliability:
   The algorithm must solve every 100ms without crashing or becoming infeasible.</a:t>
            </a:r>
            <a:endParaRPr lang="en-IN" sz="1300">
              <a:solidFill>
                <a:srgbClr val="0F1A2D"/>
              </a:solidFill>
              <a:latin typeface="Segoe UI" panose="020B0502040204020203" pitchFamily="34" charset="0"/>
            </a:endParaRPr>
          </a:p>
        </p:txBody>
      </p:sp>
    </p:spTree>
    <p:extLst>
      <p:ext uri="{BB962C8B-B14F-4D97-AF65-F5344CB8AC3E}">
        <p14:creationId xmlns:p14="http://schemas.microsoft.com/office/powerpoint/2010/main" val="1573499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2D5F8F-F342-DDA2-DC63-28A69D3A58C9}"/>
              </a:ext>
            </a:extLst>
          </p:cNvPr>
          <p:cNvSpPr txBox="1"/>
          <p:nvPr/>
        </p:nvSpPr>
        <p:spPr>
          <a:xfrm>
            <a:off x="635000" y="317500"/>
            <a:ext cx="10922000" cy="200055"/>
          </a:xfrm>
          <a:prstGeom prst="rect">
            <a:avLst/>
          </a:prstGeom>
          <a:noFill/>
        </p:spPr>
        <p:txBody>
          <a:bodyPr vert="horz" lIns="0" tIns="0" rtlCol="0">
            <a:spAutoFit/>
          </a:bodyPr>
          <a:lstStyle/>
          <a:p>
            <a:r>
              <a:rPr lang="en-IN" sz="1000" b="1">
                <a:solidFill>
                  <a:srgbClr val="06B6D2"/>
                </a:solidFill>
                <a:latin typeface="Segoe UI" panose="020B0502040204020203" pitchFamily="34" charset="0"/>
              </a:rPr>
              <a:t>LITERATURE GAP</a:t>
            </a:r>
          </a:p>
        </p:txBody>
      </p:sp>
      <p:sp>
        <p:nvSpPr>
          <p:cNvPr id="3" name="TextBox 2">
            <a:extLst>
              <a:ext uri="{FF2B5EF4-FFF2-40B4-BE49-F238E27FC236}">
                <a16:creationId xmlns:a16="http://schemas.microsoft.com/office/drawing/2014/main" id="{0524C49C-8376-231E-4FEB-B0205C9DFAC8}"/>
              </a:ext>
            </a:extLst>
          </p:cNvPr>
          <p:cNvSpPr txBox="1"/>
          <p:nvPr/>
        </p:nvSpPr>
        <p:spPr>
          <a:xfrm>
            <a:off x="635000" y="571500"/>
            <a:ext cx="10922000" cy="384721"/>
          </a:xfrm>
          <a:prstGeom prst="rect">
            <a:avLst/>
          </a:prstGeom>
          <a:noFill/>
        </p:spPr>
        <p:txBody>
          <a:bodyPr vert="horz" lIns="0" tIns="0" rtlCol="0">
            <a:spAutoFit/>
          </a:bodyPr>
          <a:lstStyle/>
          <a:p>
            <a:r>
              <a:rPr lang="en-US" sz="2200" b="1">
                <a:solidFill>
                  <a:srgbClr val="0F1A2D"/>
                </a:solidFill>
                <a:latin typeface="Segoe UI Semibold" panose="020B0702040204020203" pitchFamily="34" charset="0"/>
              </a:rPr>
              <a:t>Why Existing Methods Fail: The Two Fatal Flaws</a:t>
            </a:r>
            <a:endParaRPr lang="en-IN" sz="2200" b="1">
              <a:solidFill>
                <a:srgbClr val="0F1A2D"/>
              </a:solidFill>
              <a:latin typeface="Segoe UI Semibold" panose="020B0702040204020203" pitchFamily="34" charset="0"/>
            </a:endParaRPr>
          </a:p>
        </p:txBody>
      </p:sp>
      <p:sp>
        <p:nvSpPr>
          <p:cNvPr id="4" name="Rectangle 3">
            <a:extLst>
              <a:ext uri="{FF2B5EF4-FFF2-40B4-BE49-F238E27FC236}">
                <a16:creationId xmlns:a16="http://schemas.microsoft.com/office/drawing/2014/main" id="{08EF6B4C-E08C-6283-B602-5E4413664A59}"/>
              </a:ext>
            </a:extLst>
          </p:cNvPr>
          <p:cNvSpPr/>
          <p:nvPr/>
        </p:nvSpPr>
        <p:spPr>
          <a:xfrm>
            <a:off x="635000" y="1397000"/>
            <a:ext cx="5207000" cy="4826000"/>
          </a:xfrm>
          <a:prstGeom prst="rect">
            <a:avLst/>
          </a:prstGeom>
          <a:solidFill>
            <a:srgbClr val="FFFFFF"/>
          </a:solidFill>
          <a:ln>
            <a:solidFill>
              <a:srgbClr val="EB4747"/>
            </a:solidFill>
          </a:ln>
        </p:spPr>
        <p:style>
          <a:lnRef idx="2">
            <a:schemeClr val="accent1">
              <a:shade val="15000"/>
            </a:schemeClr>
          </a:lnRef>
          <a:fillRef idx="1">
            <a:schemeClr val="accent1"/>
          </a:fillRef>
          <a:effectRef idx="0">
            <a:schemeClr val="accent1"/>
          </a:effectRef>
          <a:fontRef idx="minor">
            <a:schemeClr val="lt1"/>
          </a:fontRef>
        </p:style>
        <p:txBody>
          <a:bodyPr lIns="254000" tIns="254000" rtlCol="0" anchor="ctr"/>
          <a:lstStyle/>
          <a:p>
            <a:pPr algn="ctr"/>
            <a:r>
              <a:rPr lang="en-US" sz="1300">
                <a:solidFill>
                  <a:srgbClr val="0F1A2D"/>
                </a:solidFill>
                <a:latin typeface="Segoe UI" panose="020B0502040204020203" pitchFamily="34" charset="0"/>
              </a:rPr>
              <a:t>FATAL FLAW #1:
Actuator Slew Rate Violations
• How Standard Tube MPC Works:
  The optimizer plans a nominal command u_xi, then adds feedback c_t = K*e OUTSIDE the solver:
  u_applied = u_xi + K*e
• The Failure:
  Because feedback is added outside the optimizer, the optimizer has NO IDEA what the car actually commanded!
• The Consequence:
  In emergency braking, feedback spikes wildly, exceeding actuator limits by up to +974.9% (2.44 m/s² vs 0.25 limit). Hardware saturates and vibrates!</a:t>
            </a:r>
            <a:endParaRPr lang="en-IN" sz="1300">
              <a:solidFill>
                <a:srgbClr val="0F1A2D"/>
              </a:solidFill>
              <a:latin typeface="Segoe UI" panose="020B0502040204020203" pitchFamily="34" charset="0"/>
            </a:endParaRPr>
          </a:p>
        </p:txBody>
      </p:sp>
      <p:sp>
        <p:nvSpPr>
          <p:cNvPr id="5" name="Rectangle 4">
            <a:extLst>
              <a:ext uri="{FF2B5EF4-FFF2-40B4-BE49-F238E27FC236}">
                <a16:creationId xmlns:a16="http://schemas.microsoft.com/office/drawing/2014/main" id="{8B2A39C9-E6C1-38D1-C7E3-7908BAE3D717}"/>
              </a:ext>
            </a:extLst>
          </p:cNvPr>
          <p:cNvSpPr/>
          <p:nvPr/>
        </p:nvSpPr>
        <p:spPr>
          <a:xfrm>
            <a:off x="6223000" y="1397000"/>
            <a:ext cx="5334000" cy="4826000"/>
          </a:xfrm>
          <a:prstGeom prst="rect">
            <a:avLst/>
          </a:prstGeom>
          <a:solidFill>
            <a:srgbClr val="FFFFFF"/>
          </a:solidFill>
          <a:ln>
            <a:solidFill>
              <a:srgbClr val="EB4747"/>
            </a:solidFill>
          </a:ln>
        </p:spPr>
        <p:style>
          <a:lnRef idx="2">
            <a:schemeClr val="accent1">
              <a:shade val="15000"/>
            </a:schemeClr>
          </a:lnRef>
          <a:fillRef idx="1">
            <a:schemeClr val="accent1"/>
          </a:fillRef>
          <a:effectRef idx="0">
            <a:schemeClr val="accent1"/>
          </a:effectRef>
          <a:fontRef idx="minor">
            <a:schemeClr val="lt1"/>
          </a:fontRef>
        </p:style>
        <p:txBody>
          <a:bodyPr lIns="254000" tIns="254000" rtlCol="0" anchor="ctr"/>
          <a:lstStyle/>
          <a:p>
            <a:pPr algn="ctr"/>
            <a:r>
              <a:rPr lang="en-US" sz="1300">
                <a:solidFill>
                  <a:srgbClr val="0F1A2D"/>
                </a:solidFill>
                <a:latin typeface="Segoe UI" panose="020B0502040204020203" pitchFamily="34" charset="0"/>
              </a:rPr>
              <a:t>FATAL FLAW #2:
Input-Interval Collapse (QP Infeasibility)
• What happens if we naively add rate limits?
  Standard tube MPC uses static worst-case disturbance bounds to tighten input limits.
• The Failure:
  Static bounds assume a worst-case storm at every step! During braking, the tightened lower bound becomes HIGHER than the upper bound:
  w_min = u_tight_UB - u_tight_LB = -1.60 m/s² &lt; 0
• The Consequence:
  The mathematical optimization set collapses to EMPTY. The QP solver crashes in 34 out of 51 steps (only 33.3% feasible)!</a:t>
            </a:r>
            <a:endParaRPr lang="en-IN" sz="1300">
              <a:solidFill>
                <a:srgbClr val="0F1A2D"/>
              </a:solidFill>
              <a:latin typeface="Segoe UI" panose="020B0502040204020203" pitchFamily="34" charset="0"/>
            </a:endParaRPr>
          </a:p>
        </p:txBody>
      </p:sp>
    </p:spTree>
    <p:extLst>
      <p:ext uri="{BB962C8B-B14F-4D97-AF65-F5344CB8AC3E}">
        <p14:creationId xmlns:p14="http://schemas.microsoft.com/office/powerpoint/2010/main" val="1288798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E9D29E-F4ED-8D58-578B-EFA8521F94CE}"/>
              </a:ext>
            </a:extLst>
          </p:cNvPr>
          <p:cNvSpPr txBox="1"/>
          <p:nvPr/>
        </p:nvSpPr>
        <p:spPr>
          <a:xfrm>
            <a:off x="635000" y="317500"/>
            <a:ext cx="10922000" cy="200055"/>
          </a:xfrm>
          <a:prstGeom prst="rect">
            <a:avLst/>
          </a:prstGeom>
          <a:noFill/>
        </p:spPr>
        <p:txBody>
          <a:bodyPr vert="horz" lIns="0" tIns="0" rtlCol="0">
            <a:spAutoFit/>
          </a:bodyPr>
          <a:lstStyle/>
          <a:p>
            <a:r>
              <a:rPr lang="en-IN" sz="1000" b="1">
                <a:solidFill>
                  <a:srgbClr val="06B6D2"/>
                </a:solidFill>
                <a:latin typeface="Segoe UI" panose="020B0502040204020203" pitchFamily="34" charset="0"/>
              </a:rPr>
              <a:t>CORE METHODOLOGY</a:t>
            </a:r>
          </a:p>
        </p:txBody>
      </p:sp>
      <p:sp>
        <p:nvSpPr>
          <p:cNvPr id="3" name="TextBox 2">
            <a:extLst>
              <a:ext uri="{FF2B5EF4-FFF2-40B4-BE49-F238E27FC236}">
                <a16:creationId xmlns:a16="http://schemas.microsoft.com/office/drawing/2014/main" id="{6DE54691-6EA4-3C1B-0E19-289FDE015CB9}"/>
              </a:ext>
            </a:extLst>
          </p:cNvPr>
          <p:cNvSpPr txBox="1"/>
          <p:nvPr/>
        </p:nvSpPr>
        <p:spPr>
          <a:xfrm>
            <a:off x="635000" y="571500"/>
            <a:ext cx="10922000" cy="384721"/>
          </a:xfrm>
          <a:prstGeom prst="rect">
            <a:avLst/>
          </a:prstGeom>
          <a:noFill/>
        </p:spPr>
        <p:txBody>
          <a:bodyPr vert="horz" lIns="0" tIns="0" rtlCol="0">
            <a:spAutoFit/>
          </a:bodyPr>
          <a:lstStyle/>
          <a:p>
            <a:r>
              <a:rPr lang="en-US" sz="2200" b="1">
                <a:solidFill>
                  <a:srgbClr val="0F1A2D"/>
                </a:solidFill>
                <a:latin typeface="Segoe UI Semibold" panose="020B0702040204020203" pitchFamily="34" charset="0"/>
              </a:rPr>
              <a:t>Our Solution: 4 Integrated Theoretical Innovations</a:t>
            </a:r>
            <a:endParaRPr lang="en-IN" sz="2200" b="1">
              <a:solidFill>
                <a:srgbClr val="0F1A2D"/>
              </a:solidFill>
              <a:latin typeface="Segoe UI Semibold" panose="020B0702040204020203" pitchFamily="34" charset="0"/>
            </a:endParaRPr>
          </a:p>
        </p:txBody>
      </p:sp>
      <p:sp>
        <p:nvSpPr>
          <p:cNvPr id="4" name="Rectangle 3">
            <a:extLst>
              <a:ext uri="{FF2B5EF4-FFF2-40B4-BE49-F238E27FC236}">
                <a16:creationId xmlns:a16="http://schemas.microsoft.com/office/drawing/2014/main" id="{8129020C-13A0-105F-BA5C-19D495DE3EAC}"/>
              </a:ext>
            </a:extLst>
          </p:cNvPr>
          <p:cNvSpPr/>
          <p:nvPr/>
        </p:nvSpPr>
        <p:spPr>
          <a:xfrm>
            <a:off x="635000" y="1397000"/>
            <a:ext cx="5334000" cy="22225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190500" tIns="190500" rtlCol="0" anchor="ctr"/>
          <a:lstStyle/>
          <a:p>
            <a:pPr algn="ctr"/>
            <a:r>
              <a:rPr lang="en-US" sz="1200">
                <a:solidFill>
                  <a:srgbClr val="0F1A2D"/>
                </a:solidFill>
                <a:latin typeface="Segoe UI" panose="020B0502040204020203" pitchFamily="34" charset="0"/>
              </a:rPr>
              <a:t>1. Step-0 Conditioning (Proposition 1)
• Directly tell the optimizer about the previous applied command u(t-1) and feedback c_t through a 4-way intersection constraint inside the QP.
? Result: Zero applied slew violations guaranteed analytically (residual &lt;= 5.1 x 10^-5 m/s²).</a:t>
            </a:r>
            <a:endParaRPr lang="en-IN" sz="1200">
              <a:solidFill>
                <a:srgbClr val="0F1A2D"/>
              </a:solidFill>
              <a:latin typeface="Segoe UI" panose="020B0502040204020203" pitchFamily="34" charset="0"/>
            </a:endParaRPr>
          </a:p>
        </p:txBody>
      </p:sp>
      <p:sp>
        <p:nvSpPr>
          <p:cNvPr id="5" name="Rectangle 4">
            <a:extLst>
              <a:ext uri="{FF2B5EF4-FFF2-40B4-BE49-F238E27FC236}">
                <a16:creationId xmlns:a16="http://schemas.microsoft.com/office/drawing/2014/main" id="{4A22C97A-0B3B-7B4D-FF25-BEC7B1513214}"/>
              </a:ext>
            </a:extLst>
          </p:cNvPr>
          <p:cNvSpPr/>
          <p:nvPr/>
        </p:nvSpPr>
        <p:spPr>
          <a:xfrm>
            <a:off x="6159500" y="1397000"/>
            <a:ext cx="5334000" cy="22225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190500" tIns="190500" rtlCol="0" anchor="ctr"/>
          <a:lstStyle/>
          <a:p>
            <a:pPr algn="ctr"/>
            <a:r>
              <a:rPr lang="en-US" sz="1200">
                <a:solidFill>
                  <a:srgbClr val="0F1A2D"/>
                </a:solidFill>
                <a:latin typeface="Segoe UI" panose="020B0502040204020203" pitchFamily="34" charset="0"/>
              </a:rPr>
              <a:t>2. Trajectory-Dependent Tubes (Lemma 1)
• Instead of assuming worst-case storms all the time, uncertainty ellipses grow along the predicted trajectory under continuous engine lag.
? Result: Peak uncertainty reduced by 98.2% (22.15 -&gt; 0.39), keeping the interval open.</a:t>
            </a:r>
            <a:endParaRPr lang="en-IN" sz="1200">
              <a:solidFill>
                <a:srgbClr val="0F1A2D"/>
              </a:solidFill>
              <a:latin typeface="Segoe UI" panose="020B0502040204020203" pitchFamily="34" charset="0"/>
            </a:endParaRPr>
          </a:p>
        </p:txBody>
      </p:sp>
      <p:sp>
        <p:nvSpPr>
          <p:cNvPr id="6" name="Rectangle 5">
            <a:extLst>
              <a:ext uri="{FF2B5EF4-FFF2-40B4-BE49-F238E27FC236}">
                <a16:creationId xmlns:a16="http://schemas.microsoft.com/office/drawing/2014/main" id="{D13CC09A-39BD-927C-EB65-B178EED21D0C}"/>
              </a:ext>
            </a:extLst>
          </p:cNvPr>
          <p:cNvSpPr/>
          <p:nvPr/>
        </p:nvSpPr>
        <p:spPr>
          <a:xfrm>
            <a:off x="635000" y="3810000"/>
            <a:ext cx="5334000" cy="22225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190500" tIns="190500" rtlCol="0" anchor="ctr"/>
          <a:lstStyle/>
          <a:p>
            <a:pPr algn="ctr"/>
            <a:r>
              <a:rPr lang="en-IN" sz="1200">
                <a:solidFill>
                  <a:srgbClr val="0F1A2D"/>
                </a:solidFill>
                <a:latin typeface="Segoe UI" panose="020B0502040204020203" pitchFamily="34" charset="0"/>
              </a:rPr>
              <a:t>3. LMI-Certified Gain Co-Design (Theorem 1)
• Synthesized ancillary gain K_opt = [1.2345, -0.5985, -1.2588] using discrete Lyapunov LMIs with R=50 to minimize control footprint.
? Result: Expands collapse margin by +21.66% and smooths control variation by -48.4%.</a:t>
            </a:r>
          </a:p>
        </p:txBody>
      </p:sp>
      <p:sp>
        <p:nvSpPr>
          <p:cNvPr id="7" name="Rectangle 6">
            <a:extLst>
              <a:ext uri="{FF2B5EF4-FFF2-40B4-BE49-F238E27FC236}">
                <a16:creationId xmlns:a16="http://schemas.microsoft.com/office/drawing/2014/main" id="{FF0BA2CC-4884-1E88-25AE-41342A488C2C}"/>
              </a:ext>
            </a:extLst>
          </p:cNvPr>
          <p:cNvSpPr/>
          <p:nvPr/>
        </p:nvSpPr>
        <p:spPr>
          <a:xfrm>
            <a:off x="6159500" y="3810000"/>
            <a:ext cx="5334000" cy="22225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190500" tIns="190500" rtlCol="0" anchor="ctr"/>
          <a:lstStyle/>
          <a:p>
            <a:pPr algn="ctr"/>
            <a:r>
              <a:rPr lang="en-IN" sz="1200">
                <a:solidFill>
                  <a:srgbClr val="0F1A2D"/>
                </a:solidFill>
                <a:latin typeface="Segoe UI" panose="020B0502040204020203" pitchFamily="34" charset="0"/>
              </a:rPr>
              <a:t>4. Slew-Invariant Fallback (Proposition 2)
• If an impossible cut-in occurs, a deterministic fallback applies monotonic deceleration u_fallback = max(u_min, u(t-1) - ?u_max).
? Result: Perfect rate compliance across all switching sequences entering/exiting MPC.</a:t>
            </a:r>
          </a:p>
        </p:txBody>
      </p:sp>
    </p:spTree>
    <p:extLst>
      <p:ext uri="{BB962C8B-B14F-4D97-AF65-F5344CB8AC3E}">
        <p14:creationId xmlns:p14="http://schemas.microsoft.com/office/powerpoint/2010/main" val="376570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85AA74-5E5E-73CD-4565-3C1A59E7AE90}"/>
              </a:ext>
            </a:extLst>
          </p:cNvPr>
          <p:cNvSpPr txBox="1"/>
          <p:nvPr/>
        </p:nvSpPr>
        <p:spPr>
          <a:xfrm>
            <a:off x="635000" y="317500"/>
            <a:ext cx="10922000" cy="200055"/>
          </a:xfrm>
          <a:prstGeom prst="rect">
            <a:avLst/>
          </a:prstGeom>
          <a:noFill/>
        </p:spPr>
        <p:txBody>
          <a:bodyPr vert="horz" lIns="0" tIns="0" rtlCol="0">
            <a:spAutoFit/>
          </a:bodyPr>
          <a:lstStyle/>
          <a:p>
            <a:r>
              <a:rPr lang="en-IN" sz="1000" b="1">
                <a:solidFill>
                  <a:srgbClr val="06B6D2"/>
                </a:solidFill>
                <a:latin typeface="Segoe UI" panose="020B0502040204020203" pitchFamily="34" charset="0"/>
              </a:rPr>
              <a:t>SYSTEM DESIGN</a:t>
            </a:r>
          </a:p>
        </p:txBody>
      </p:sp>
      <p:sp>
        <p:nvSpPr>
          <p:cNvPr id="3" name="TextBox 2">
            <a:extLst>
              <a:ext uri="{FF2B5EF4-FFF2-40B4-BE49-F238E27FC236}">
                <a16:creationId xmlns:a16="http://schemas.microsoft.com/office/drawing/2014/main" id="{2E86D55A-C0A9-7036-365F-AFE15267476B}"/>
              </a:ext>
            </a:extLst>
          </p:cNvPr>
          <p:cNvSpPr txBox="1"/>
          <p:nvPr/>
        </p:nvSpPr>
        <p:spPr>
          <a:xfrm>
            <a:off x="635000" y="571500"/>
            <a:ext cx="10922000" cy="384721"/>
          </a:xfrm>
          <a:prstGeom prst="rect">
            <a:avLst/>
          </a:prstGeom>
          <a:noFill/>
        </p:spPr>
        <p:txBody>
          <a:bodyPr vert="horz" lIns="0" tIns="0" rtlCol="0">
            <a:spAutoFit/>
          </a:bodyPr>
          <a:lstStyle/>
          <a:p>
            <a:r>
              <a:rPr lang="en-US" sz="2200" b="1">
                <a:solidFill>
                  <a:srgbClr val="0F1A2D"/>
                </a:solidFill>
                <a:latin typeface="Segoe UI Semibold" panose="020B0702040204020203" pitchFamily="34" charset="0"/>
              </a:rPr>
              <a:t>Control System Architecture &amp; Signal Flow</a:t>
            </a:r>
            <a:endParaRPr lang="en-IN" sz="2200" b="1">
              <a:solidFill>
                <a:srgbClr val="0F1A2D"/>
              </a:solidFill>
              <a:latin typeface="Segoe UI Semibold" panose="020B0702040204020203" pitchFamily="34" charset="0"/>
            </a:endParaRPr>
          </a:p>
        </p:txBody>
      </p:sp>
      <p:sp>
        <p:nvSpPr>
          <p:cNvPr id="4" name="Rectangle 3">
            <a:extLst>
              <a:ext uri="{FF2B5EF4-FFF2-40B4-BE49-F238E27FC236}">
                <a16:creationId xmlns:a16="http://schemas.microsoft.com/office/drawing/2014/main" id="{60826F84-BDD5-3181-CAB7-99157E135350}"/>
              </a:ext>
            </a:extLst>
          </p:cNvPr>
          <p:cNvSpPr/>
          <p:nvPr/>
        </p:nvSpPr>
        <p:spPr>
          <a:xfrm>
            <a:off x="571500" y="1778000"/>
            <a:ext cx="1714500" cy="1524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101600" tIns="152400" rtlCol="0" anchor="ctr"/>
          <a:lstStyle/>
          <a:p>
            <a:pPr algn="ctr"/>
            <a:r>
              <a:rPr lang="en-US" sz="1050" b="1">
                <a:solidFill>
                  <a:srgbClr val="0F1A2D"/>
                </a:solidFill>
                <a:latin typeface="Segoe UI" panose="020B0502040204020203" pitchFamily="34" charset="0"/>
              </a:rPr>
              <a:t>STEP 1
Radar &amp; Camera
Measures relative distance d_rel and velocity v_rel</a:t>
            </a:r>
            <a:endParaRPr lang="en-IN" sz="1050" b="1">
              <a:solidFill>
                <a:srgbClr val="0F1A2D"/>
              </a:solidFill>
              <a:latin typeface="Segoe UI" panose="020B0502040204020203" pitchFamily="34" charset="0"/>
            </a:endParaRPr>
          </a:p>
        </p:txBody>
      </p:sp>
      <p:sp>
        <p:nvSpPr>
          <p:cNvPr id="5" name="Rectangle 4">
            <a:extLst>
              <a:ext uri="{FF2B5EF4-FFF2-40B4-BE49-F238E27FC236}">
                <a16:creationId xmlns:a16="http://schemas.microsoft.com/office/drawing/2014/main" id="{04992719-527B-256F-A6D4-DACA396816DC}"/>
              </a:ext>
            </a:extLst>
          </p:cNvPr>
          <p:cNvSpPr/>
          <p:nvPr/>
        </p:nvSpPr>
        <p:spPr>
          <a:xfrm>
            <a:off x="2413000" y="1778000"/>
            <a:ext cx="1714500" cy="1524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101600" tIns="152400" rtlCol="0" anchor="ctr"/>
          <a:lstStyle/>
          <a:p>
            <a:pPr algn="ctr"/>
            <a:r>
              <a:rPr lang="en-US" sz="1050" b="1">
                <a:solidFill>
                  <a:srgbClr val="0F1A2D"/>
                </a:solidFill>
                <a:latin typeface="Segoe UI" panose="020B0502040204020203" pitchFamily="34" charset="0"/>
              </a:rPr>
              <a:t>STEP 2
Observer Filter
Estimates full states x_hat and road resistance d_hat</a:t>
            </a:r>
            <a:endParaRPr lang="en-IN" sz="1050" b="1">
              <a:solidFill>
                <a:srgbClr val="0F1A2D"/>
              </a:solidFill>
              <a:latin typeface="Segoe UI" panose="020B0502040204020203" pitchFamily="34" charset="0"/>
            </a:endParaRPr>
          </a:p>
        </p:txBody>
      </p:sp>
      <p:sp>
        <p:nvSpPr>
          <p:cNvPr id="6" name="Rectangle 5">
            <a:extLst>
              <a:ext uri="{FF2B5EF4-FFF2-40B4-BE49-F238E27FC236}">
                <a16:creationId xmlns:a16="http://schemas.microsoft.com/office/drawing/2014/main" id="{76359695-10D9-BFAB-2711-AE17DA8CC5AB}"/>
              </a:ext>
            </a:extLst>
          </p:cNvPr>
          <p:cNvSpPr/>
          <p:nvPr/>
        </p:nvSpPr>
        <p:spPr>
          <a:xfrm>
            <a:off x="4254500" y="1778000"/>
            <a:ext cx="1714500" cy="1524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101600" tIns="152400" rtlCol="0" anchor="ctr"/>
          <a:lstStyle/>
          <a:p>
            <a:pPr algn="ctr"/>
            <a:r>
              <a:rPr lang="en-US" sz="1050" b="1">
                <a:solidFill>
                  <a:srgbClr val="0F1A2D"/>
                </a:solidFill>
                <a:latin typeface="Segoe UI" panose="020B0502040204020203" pitchFamily="34" charset="0"/>
              </a:rPr>
              <a:t>STEP 3
Trajectory Tube
Computes dynamic uncertainty bound z_kin and sigma_bar</a:t>
            </a:r>
            <a:endParaRPr lang="en-IN" sz="1050" b="1">
              <a:solidFill>
                <a:srgbClr val="0F1A2D"/>
              </a:solidFill>
              <a:latin typeface="Segoe UI" panose="020B0502040204020203" pitchFamily="34" charset="0"/>
            </a:endParaRPr>
          </a:p>
        </p:txBody>
      </p:sp>
      <p:sp>
        <p:nvSpPr>
          <p:cNvPr id="7" name="Rectangle 6">
            <a:extLst>
              <a:ext uri="{FF2B5EF4-FFF2-40B4-BE49-F238E27FC236}">
                <a16:creationId xmlns:a16="http://schemas.microsoft.com/office/drawing/2014/main" id="{79685BCB-56A7-2BDC-C5B6-0CBAA5E697DE}"/>
              </a:ext>
            </a:extLst>
          </p:cNvPr>
          <p:cNvSpPr/>
          <p:nvPr/>
        </p:nvSpPr>
        <p:spPr>
          <a:xfrm>
            <a:off x="6096000" y="1778000"/>
            <a:ext cx="1714500" cy="1524000"/>
          </a:xfrm>
          <a:prstGeom prst="rect">
            <a:avLst/>
          </a:prstGeom>
          <a:solidFill>
            <a:srgbClr val="0F1824"/>
          </a:solidFill>
          <a:ln>
            <a:solidFill>
              <a:srgbClr val="06B6D2"/>
            </a:solidFill>
          </a:ln>
        </p:spPr>
        <p:style>
          <a:lnRef idx="2">
            <a:schemeClr val="accent1">
              <a:shade val="15000"/>
            </a:schemeClr>
          </a:lnRef>
          <a:fillRef idx="1">
            <a:schemeClr val="accent1"/>
          </a:fillRef>
          <a:effectRef idx="0">
            <a:schemeClr val="accent1"/>
          </a:effectRef>
          <a:fontRef idx="minor">
            <a:schemeClr val="lt1"/>
          </a:fontRef>
        </p:style>
        <p:txBody>
          <a:bodyPr lIns="101600" tIns="152400" rtlCol="0" anchor="ctr"/>
          <a:lstStyle/>
          <a:p>
            <a:pPr algn="ctr"/>
            <a:r>
              <a:rPr lang="en-US" sz="1050" b="1">
                <a:solidFill>
                  <a:srgbClr val="FFFFFF"/>
                </a:solidFill>
                <a:latin typeface="Segoe UI" panose="020B0502040204020203" pitchFamily="34" charset="0"/>
              </a:rPr>
              <a:t>STEP 4
Step-0 Tube QP
Solves N=6 optimal nominal control u_xi with 4-way bounds</a:t>
            </a:r>
            <a:endParaRPr lang="en-IN" sz="1050" b="1">
              <a:solidFill>
                <a:srgbClr val="FFFFFF"/>
              </a:solidFill>
              <a:latin typeface="Segoe UI" panose="020B0502040204020203" pitchFamily="34" charset="0"/>
            </a:endParaRPr>
          </a:p>
        </p:txBody>
      </p:sp>
      <p:sp>
        <p:nvSpPr>
          <p:cNvPr id="8" name="Rectangle 7">
            <a:extLst>
              <a:ext uri="{FF2B5EF4-FFF2-40B4-BE49-F238E27FC236}">
                <a16:creationId xmlns:a16="http://schemas.microsoft.com/office/drawing/2014/main" id="{ABEF1DD6-42E7-DF94-62FF-A3CCDDCF3A2D}"/>
              </a:ext>
            </a:extLst>
          </p:cNvPr>
          <p:cNvSpPr/>
          <p:nvPr/>
        </p:nvSpPr>
        <p:spPr>
          <a:xfrm>
            <a:off x="7937500" y="1778000"/>
            <a:ext cx="1714500" cy="1524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101600" tIns="152400" rtlCol="0" anchor="ctr"/>
          <a:lstStyle/>
          <a:p>
            <a:pPr algn="ctr"/>
            <a:r>
              <a:rPr lang="en-US" sz="1050" b="1">
                <a:solidFill>
                  <a:srgbClr val="0F1A2D"/>
                </a:solidFill>
                <a:latin typeface="Segoe UI" panose="020B0502040204020203" pitchFamily="34" charset="0"/>
              </a:rPr>
              <a:t>STEP 5
Summing Junction
u_applied = u_xi + K_opt*e - d_hat (Rate Preserved!)</a:t>
            </a:r>
            <a:endParaRPr lang="en-IN" sz="1050" b="1">
              <a:solidFill>
                <a:srgbClr val="0F1A2D"/>
              </a:solidFill>
              <a:latin typeface="Segoe UI" panose="020B0502040204020203" pitchFamily="34" charset="0"/>
            </a:endParaRPr>
          </a:p>
        </p:txBody>
      </p:sp>
      <p:sp>
        <p:nvSpPr>
          <p:cNvPr id="9" name="Rectangle 8">
            <a:extLst>
              <a:ext uri="{FF2B5EF4-FFF2-40B4-BE49-F238E27FC236}">
                <a16:creationId xmlns:a16="http://schemas.microsoft.com/office/drawing/2014/main" id="{48E8DD75-7F01-8CF3-C62D-560CDC9A8C72}"/>
              </a:ext>
            </a:extLst>
          </p:cNvPr>
          <p:cNvSpPr/>
          <p:nvPr/>
        </p:nvSpPr>
        <p:spPr>
          <a:xfrm>
            <a:off x="9779000" y="1778000"/>
            <a:ext cx="1714500" cy="1524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101600" tIns="152400" rtlCol="0" anchor="ctr"/>
          <a:lstStyle/>
          <a:p>
            <a:pPr algn="ctr"/>
            <a:r>
              <a:rPr lang="en-US" sz="1050" b="1">
                <a:solidFill>
                  <a:srgbClr val="0F1A2D"/>
                </a:solidFill>
                <a:latin typeface="Segoe UI" panose="020B0502040204020203" pitchFamily="34" charset="0"/>
              </a:rPr>
              <a:t>STEP 6
Vehicle Actuator
Driveline executes acceleration with zero rate violations</a:t>
            </a:r>
            <a:endParaRPr lang="en-IN" sz="1050" b="1">
              <a:solidFill>
                <a:srgbClr val="0F1A2D"/>
              </a:solidFill>
              <a:latin typeface="Segoe UI" panose="020B0502040204020203" pitchFamily="34" charset="0"/>
            </a:endParaRPr>
          </a:p>
        </p:txBody>
      </p:sp>
      <p:sp>
        <p:nvSpPr>
          <p:cNvPr id="10" name="Rectangle 9">
            <a:extLst>
              <a:ext uri="{FF2B5EF4-FFF2-40B4-BE49-F238E27FC236}">
                <a16:creationId xmlns:a16="http://schemas.microsoft.com/office/drawing/2014/main" id="{AB47D6E0-1004-6FF9-B658-4F02262ACDCD}"/>
              </a:ext>
            </a:extLst>
          </p:cNvPr>
          <p:cNvSpPr/>
          <p:nvPr/>
        </p:nvSpPr>
        <p:spPr>
          <a:xfrm>
            <a:off x="635000" y="3683000"/>
            <a:ext cx="10922000" cy="2413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254000" tIns="190500" rtlCol="0" anchor="ctr"/>
          <a:lstStyle/>
          <a:p>
            <a:pPr algn="ctr"/>
            <a:r>
              <a:rPr lang="en-US" sz="1300">
                <a:solidFill>
                  <a:srgbClr val="0F1A2D"/>
                </a:solidFill>
                <a:latin typeface="Segoe UI" panose="020B0502040204020203" pitchFamily="34" charset="0"/>
              </a:rPr>
              <a:t>Key Design Distinction in Step 4 &amp; 5:
• Traditional Tube MPC:
  Optimizer outputs u_xi(t) without knowing about feedback c_t.
  Hardware summing adds c_t -&gt; Total command u_applied violates slew rate!
• Our Proposed Tube MPC:
  Step-0 conditioning tells the QP optimizer: 'The summing junction will add c_t, so bound u_xi such that u_xi + c_t respects ?u_max!'
  This guarantees applied slew compliance at the hardware level.</a:t>
            </a:r>
            <a:endParaRPr lang="en-IN" sz="1300">
              <a:solidFill>
                <a:srgbClr val="0F1A2D"/>
              </a:solidFill>
              <a:latin typeface="Segoe UI" panose="020B0502040204020203" pitchFamily="34" charset="0"/>
            </a:endParaRPr>
          </a:p>
        </p:txBody>
      </p:sp>
    </p:spTree>
    <p:extLst>
      <p:ext uri="{BB962C8B-B14F-4D97-AF65-F5344CB8AC3E}">
        <p14:creationId xmlns:p14="http://schemas.microsoft.com/office/powerpoint/2010/main" val="179300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6603D14-05B8-52C0-7B05-FDC7D3C37970}"/>
              </a:ext>
            </a:extLst>
          </p:cNvPr>
          <p:cNvSpPr txBox="1"/>
          <p:nvPr/>
        </p:nvSpPr>
        <p:spPr>
          <a:xfrm>
            <a:off x="635000" y="317500"/>
            <a:ext cx="10922000" cy="200055"/>
          </a:xfrm>
          <a:prstGeom prst="rect">
            <a:avLst/>
          </a:prstGeom>
          <a:noFill/>
        </p:spPr>
        <p:txBody>
          <a:bodyPr vert="horz" lIns="0" tIns="0" rtlCol="0">
            <a:spAutoFit/>
          </a:bodyPr>
          <a:lstStyle/>
          <a:p>
            <a:r>
              <a:rPr lang="en-IN" sz="1000" b="1">
                <a:solidFill>
                  <a:srgbClr val="06B6D2"/>
                </a:solidFill>
                <a:latin typeface="Segoe UI" panose="020B0502040204020203" pitchFamily="34" charset="0"/>
              </a:rPr>
              <a:t>EXPERIMENTAL RESULTS</a:t>
            </a:r>
          </a:p>
        </p:txBody>
      </p:sp>
      <p:sp>
        <p:nvSpPr>
          <p:cNvPr id="3" name="TextBox 2">
            <a:extLst>
              <a:ext uri="{FF2B5EF4-FFF2-40B4-BE49-F238E27FC236}">
                <a16:creationId xmlns:a16="http://schemas.microsoft.com/office/drawing/2014/main" id="{5269FD29-1DCA-FDA4-DEA9-A10764670435}"/>
              </a:ext>
            </a:extLst>
          </p:cNvPr>
          <p:cNvSpPr txBox="1"/>
          <p:nvPr/>
        </p:nvSpPr>
        <p:spPr>
          <a:xfrm>
            <a:off x="635000" y="571500"/>
            <a:ext cx="10922000" cy="384721"/>
          </a:xfrm>
          <a:prstGeom prst="rect">
            <a:avLst/>
          </a:prstGeom>
          <a:noFill/>
        </p:spPr>
        <p:txBody>
          <a:bodyPr vert="horz" lIns="0" tIns="0" rtlCol="0">
            <a:spAutoFit/>
          </a:bodyPr>
          <a:lstStyle/>
          <a:p>
            <a:r>
              <a:rPr lang="en-US" sz="2200" b="1">
                <a:solidFill>
                  <a:srgbClr val="0F1A2D"/>
                </a:solidFill>
                <a:latin typeface="Segoe UI Semibold" panose="020B0702040204020203" pitchFamily="34" charset="0"/>
              </a:rPr>
              <a:t>Table I: Five-Variant Ablation Study (Benchmark 3)</a:t>
            </a:r>
            <a:endParaRPr lang="en-IN" sz="2200" b="1">
              <a:solidFill>
                <a:srgbClr val="0F1A2D"/>
              </a:solidFill>
              <a:latin typeface="Segoe UI Semibold" panose="020B0702040204020203" pitchFamily="34" charset="0"/>
            </a:endParaRPr>
          </a:p>
        </p:txBody>
      </p:sp>
      <p:graphicFrame>
        <p:nvGraphicFramePr>
          <p:cNvPr id="4" name="Table 3">
            <a:extLst>
              <a:ext uri="{FF2B5EF4-FFF2-40B4-BE49-F238E27FC236}">
                <a16:creationId xmlns:a16="http://schemas.microsoft.com/office/drawing/2014/main" id="{4600F2FC-B36B-8BE8-5B23-C4E8052EB83E}"/>
              </a:ext>
            </a:extLst>
          </p:cNvPr>
          <p:cNvGraphicFramePr>
            <a:graphicFrameLocks noGrp="1"/>
          </p:cNvGraphicFramePr>
          <p:nvPr>
            <p:extLst>
              <p:ext uri="{D42A27DB-BD31-4B8C-83A1-F6EECF244321}">
                <p14:modId xmlns:p14="http://schemas.microsoft.com/office/powerpoint/2010/main" val="3685886083"/>
              </p:ext>
            </p:extLst>
          </p:nvPr>
        </p:nvGraphicFramePr>
        <p:xfrm>
          <a:off x="635000" y="1333500"/>
          <a:ext cx="10922000" cy="4572000"/>
        </p:xfrm>
        <a:graphic>
          <a:graphicData uri="http://schemas.openxmlformats.org/drawingml/2006/table">
            <a:tbl>
              <a:tblPr firstRow="1" bandRow="1">
                <a:tableStyleId>{5C22544A-7EE6-4342-B048-85BDC9FD1C3A}</a:tableStyleId>
              </a:tblPr>
              <a:tblGrid>
                <a:gridCol w="1820333">
                  <a:extLst>
                    <a:ext uri="{9D8B030D-6E8A-4147-A177-3AD203B41FA5}">
                      <a16:colId xmlns:a16="http://schemas.microsoft.com/office/drawing/2014/main" val="1975376293"/>
                    </a:ext>
                  </a:extLst>
                </a:gridCol>
                <a:gridCol w="1820333">
                  <a:extLst>
                    <a:ext uri="{9D8B030D-6E8A-4147-A177-3AD203B41FA5}">
                      <a16:colId xmlns:a16="http://schemas.microsoft.com/office/drawing/2014/main" val="3545769953"/>
                    </a:ext>
                  </a:extLst>
                </a:gridCol>
                <a:gridCol w="1820333">
                  <a:extLst>
                    <a:ext uri="{9D8B030D-6E8A-4147-A177-3AD203B41FA5}">
                      <a16:colId xmlns:a16="http://schemas.microsoft.com/office/drawing/2014/main" val="1597839568"/>
                    </a:ext>
                  </a:extLst>
                </a:gridCol>
                <a:gridCol w="1820333">
                  <a:extLst>
                    <a:ext uri="{9D8B030D-6E8A-4147-A177-3AD203B41FA5}">
                      <a16:colId xmlns:a16="http://schemas.microsoft.com/office/drawing/2014/main" val="4181284107"/>
                    </a:ext>
                  </a:extLst>
                </a:gridCol>
                <a:gridCol w="1820333">
                  <a:extLst>
                    <a:ext uri="{9D8B030D-6E8A-4147-A177-3AD203B41FA5}">
                      <a16:colId xmlns:a16="http://schemas.microsoft.com/office/drawing/2014/main" val="3560899021"/>
                    </a:ext>
                  </a:extLst>
                </a:gridCol>
                <a:gridCol w="1820333">
                  <a:extLst>
                    <a:ext uri="{9D8B030D-6E8A-4147-A177-3AD203B41FA5}">
                      <a16:colId xmlns:a16="http://schemas.microsoft.com/office/drawing/2014/main" val="78484648"/>
                    </a:ext>
                  </a:extLst>
                </a:gridCol>
              </a:tblGrid>
              <a:tr h="571500">
                <a:tc>
                  <a:txBody>
                    <a:bodyPr/>
                    <a:lstStyle/>
                    <a:p>
                      <a:r>
                        <a:rPr lang="en-IN" sz="1100" b="1">
                          <a:solidFill>
                            <a:srgbClr val="0F1A2D"/>
                          </a:solidFill>
                        </a:rPr>
                        <a:t>Metric</a:t>
                      </a:r>
                    </a:p>
                  </a:txBody>
                  <a:tcPr>
                    <a:solidFill>
                      <a:srgbClr val="D2DAE0"/>
                    </a:solidFill>
                  </a:tcPr>
                </a:tc>
                <a:tc>
                  <a:txBody>
                    <a:bodyPr/>
                    <a:lstStyle/>
                    <a:p>
                      <a:r>
                        <a:rPr lang="en-IN" sz="1100" b="1">
                          <a:solidFill>
                            <a:srgbClr val="0F1A2D"/>
                          </a:solidFill>
                        </a:rPr>
                        <a:t>Var A (Base)</a:t>
                      </a:r>
                    </a:p>
                  </a:txBody>
                  <a:tcPr>
                    <a:solidFill>
                      <a:srgbClr val="D2DAE0"/>
                    </a:solidFill>
                  </a:tcPr>
                </a:tc>
                <a:tc>
                  <a:txBody>
                    <a:bodyPr/>
                    <a:lstStyle/>
                    <a:p>
                      <a:r>
                        <a:rPr lang="en-IN" sz="1100" b="1">
                          <a:solidFill>
                            <a:srgbClr val="0F1A2D"/>
                          </a:solidFill>
                        </a:rPr>
                        <a:t>Var B (Traj)</a:t>
                      </a:r>
                    </a:p>
                  </a:txBody>
                  <a:tcPr>
                    <a:solidFill>
                      <a:srgbClr val="D2DAE0"/>
                    </a:solidFill>
                  </a:tcPr>
                </a:tc>
                <a:tc>
                  <a:txBody>
                    <a:bodyPr/>
                    <a:lstStyle/>
                    <a:p>
                      <a:r>
                        <a:rPr lang="en-IN" sz="1100" b="1">
                          <a:solidFill>
                            <a:srgbClr val="0F1A2D"/>
                          </a:solidFill>
                        </a:rPr>
                        <a:t>Var C (Static+S0)</a:t>
                      </a:r>
                    </a:p>
                  </a:txBody>
                  <a:tcPr>
                    <a:solidFill>
                      <a:srgbClr val="D2DAE0"/>
                    </a:solidFill>
                  </a:tcPr>
                </a:tc>
                <a:tc>
                  <a:txBody>
                    <a:bodyPr/>
                    <a:lstStyle/>
                    <a:p>
                      <a:r>
                        <a:rPr lang="en-IN" sz="1100" b="1">
                          <a:solidFill>
                            <a:srgbClr val="0F1A2D"/>
                          </a:solidFill>
                        </a:rPr>
                        <a:t>Var D (Traj+S0)</a:t>
                      </a:r>
                    </a:p>
                  </a:txBody>
                  <a:tcPr>
                    <a:solidFill>
                      <a:srgbClr val="D2DAE0"/>
                    </a:solidFill>
                  </a:tcPr>
                </a:tc>
                <a:tc>
                  <a:txBody>
                    <a:bodyPr/>
                    <a:lstStyle/>
                    <a:p>
                      <a:r>
                        <a:rPr lang="en-IN" sz="1100" b="1">
                          <a:solidFill>
                            <a:srgbClr val="06B6D2"/>
                          </a:solidFill>
                        </a:rPr>
                        <a:t>Var E (Proposed)</a:t>
                      </a:r>
                    </a:p>
                  </a:txBody>
                  <a:tcPr>
                    <a:solidFill>
                      <a:srgbClr val="0F1824"/>
                    </a:solidFill>
                  </a:tcPr>
                </a:tc>
                <a:extLst>
                  <a:ext uri="{0D108BD9-81ED-4DB2-BD59-A6C34878D82A}">
                    <a16:rowId xmlns:a16="http://schemas.microsoft.com/office/drawing/2014/main" val="2153679295"/>
                  </a:ext>
                </a:extLst>
              </a:tr>
              <a:tr h="571500">
                <a:tc>
                  <a:txBody>
                    <a:bodyPr/>
                    <a:lstStyle/>
                    <a:p>
                      <a:r>
                        <a:rPr lang="en-IN" sz="1050">
                          <a:solidFill>
                            <a:srgbClr val="0F1A2D"/>
                          </a:solidFill>
                        </a:rPr>
                        <a:t>Uncertainty Bound</a:t>
                      </a:r>
                    </a:p>
                  </a:txBody>
                  <a:tcPr>
                    <a:solidFill>
                      <a:srgbClr val="FFFFFF"/>
                    </a:solidFill>
                  </a:tcPr>
                </a:tc>
                <a:tc>
                  <a:txBody>
                    <a:bodyPr/>
                    <a:lstStyle/>
                    <a:p>
                      <a:r>
                        <a:rPr lang="en-IN" sz="1050">
                          <a:solidFill>
                            <a:srgbClr val="0F1A2D"/>
                          </a:solidFill>
                        </a:rPr>
                        <a:t>Static (3.0)</a:t>
                      </a:r>
                    </a:p>
                  </a:txBody>
                  <a:tcPr>
                    <a:solidFill>
                      <a:srgbClr val="FFFFFF"/>
                    </a:solidFill>
                  </a:tcPr>
                </a:tc>
                <a:tc>
                  <a:txBody>
                    <a:bodyPr/>
                    <a:lstStyle/>
                    <a:p>
                      <a:r>
                        <a:rPr lang="en-IN" sz="1050">
                          <a:solidFill>
                            <a:srgbClr val="0F1A2D"/>
                          </a:solidFill>
                        </a:rPr>
                        <a:t>Trajectory</a:t>
                      </a:r>
                    </a:p>
                  </a:txBody>
                  <a:tcPr>
                    <a:solidFill>
                      <a:srgbClr val="FFFFFF"/>
                    </a:solidFill>
                  </a:tcPr>
                </a:tc>
                <a:tc>
                  <a:txBody>
                    <a:bodyPr/>
                    <a:lstStyle/>
                    <a:p>
                      <a:r>
                        <a:rPr lang="en-IN" sz="1050">
                          <a:solidFill>
                            <a:srgbClr val="0F1A2D"/>
                          </a:solidFill>
                        </a:rPr>
                        <a:t>Static (3.0)</a:t>
                      </a:r>
                    </a:p>
                  </a:txBody>
                  <a:tcPr>
                    <a:solidFill>
                      <a:srgbClr val="FFFFFF"/>
                    </a:solidFill>
                  </a:tcPr>
                </a:tc>
                <a:tc>
                  <a:txBody>
                    <a:bodyPr/>
                    <a:lstStyle/>
                    <a:p>
                      <a:r>
                        <a:rPr lang="en-IN" sz="1050">
                          <a:solidFill>
                            <a:srgbClr val="0F1A2D"/>
                          </a:solidFill>
                        </a:rPr>
                        <a:t>Trajectory</a:t>
                      </a:r>
                    </a:p>
                  </a:txBody>
                  <a:tcPr>
                    <a:solidFill>
                      <a:srgbClr val="FFFFFF"/>
                    </a:solidFill>
                  </a:tcPr>
                </a:tc>
                <a:tc>
                  <a:txBody>
                    <a:bodyPr/>
                    <a:lstStyle/>
                    <a:p>
                      <a:r>
                        <a:rPr lang="en-IN" sz="1050" b="1">
                          <a:solidFill>
                            <a:srgbClr val="106010"/>
                          </a:solidFill>
                        </a:rPr>
                        <a:t>Trajectory</a:t>
                      </a:r>
                    </a:p>
                  </a:txBody>
                  <a:tcPr>
                    <a:solidFill>
                      <a:srgbClr val="EAFAF0"/>
                    </a:solidFill>
                  </a:tcPr>
                </a:tc>
                <a:extLst>
                  <a:ext uri="{0D108BD9-81ED-4DB2-BD59-A6C34878D82A}">
                    <a16:rowId xmlns:a16="http://schemas.microsoft.com/office/drawing/2014/main" val="88098075"/>
                  </a:ext>
                </a:extLst>
              </a:tr>
              <a:tr h="571500">
                <a:tc>
                  <a:txBody>
                    <a:bodyPr/>
                    <a:lstStyle/>
                    <a:p>
                      <a:r>
                        <a:rPr lang="en-IN" sz="1050">
                          <a:solidFill>
                            <a:srgbClr val="0F1A2D"/>
                          </a:solidFill>
                        </a:rPr>
                        <a:t>Step-0 Rate Cond.</a:t>
                      </a:r>
                    </a:p>
                  </a:txBody>
                  <a:tcPr>
                    <a:solidFill>
                      <a:srgbClr val="FFFFFF"/>
                    </a:solidFill>
                  </a:tcPr>
                </a:tc>
                <a:tc>
                  <a:txBody>
                    <a:bodyPr/>
                    <a:lstStyle/>
                    <a:p>
                      <a:r>
                        <a:rPr lang="en-IN" sz="1050">
                          <a:solidFill>
                            <a:srgbClr val="0F1A2D"/>
                          </a:solidFill>
                        </a:rPr>
                        <a:t>No</a:t>
                      </a:r>
                    </a:p>
                  </a:txBody>
                  <a:tcPr>
                    <a:solidFill>
                      <a:srgbClr val="FFFFFF"/>
                    </a:solidFill>
                  </a:tcPr>
                </a:tc>
                <a:tc>
                  <a:txBody>
                    <a:bodyPr/>
                    <a:lstStyle/>
                    <a:p>
                      <a:r>
                        <a:rPr lang="en-IN" sz="1050">
                          <a:solidFill>
                            <a:srgbClr val="0F1A2D"/>
                          </a:solidFill>
                        </a:rPr>
                        <a:t>No</a:t>
                      </a:r>
                    </a:p>
                  </a:txBody>
                  <a:tcPr>
                    <a:solidFill>
                      <a:srgbClr val="FFFFFF"/>
                    </a:solidFill>
                  </a:tcPr>
                </a:tc>
                <a:tc>
                  <a:txBody>
                    <a:bodyPr/>
                    <a:lstStyle/>
                    <a:p>
                      <a:r>
                        <a:rPr lang="en-IN" sz="1050">
                          <a:solidFill>
                            <a:srgbClr val="0F1A2D"/>
                          </a:solidFill>
                        </a:rPr>
                        <a:t>Yes</a:t>
                      </a:r>
                    </a:p>
                  </a:txBody>
                  <a:tcPr>
                    <a:solidFill>
                      <a:srgbClr val="FFFFFF"/>
                    </a:solidFill>
                  </a:tcPr>
                </a:tc>
                <a:tc>
                  <a:txBody>
                    <a:bodyPr/>
                    <a:lstStyle/>
                    <a:p>
                      <a:r>
                        <a:rPr lang="en-IN" sz="1050">
                          <a:solidFill>
                            <a:srgbClr val="0F1A2D"/>
                          </a:solidFill>
                        </a:rPr>
                        <a:t>Yes</a:t>
                      </a:r>
                    </a:p>
                  </a:txBody>
                  <a:tcPr>
                    <a:solidFill>
                      <a:srgbClr val="FFFFFF"/>
                    </a:solidFill>
                  </a:tcPr>
                </a:tc>
                <a:tc>
                  <a:txBody>
                    <a:bodyPr/>
                    <a:lstStyle/>
                    <a:p>
                      <a:r>
                        <a:rPr lang="en-IN" sz="1050" b="1">
                          <a:solidFill>
                            <a:srgbClr val="106010"/>
                          </a:solidFill>
                        </a:rPr>
                        <a:t>Yes</a:t>
                      </a:r>
                    </a:p>
                  </a:txBody>
                  <a:tcPr>
                    <a:solidFill>
                      <a:srgbClr val="EAFAF0"/>
                    </a:solidFill>
                  </a:tcPr>
                </a:tc>
                <a:extLst>
                  <a:ext uri="{0D108BD9-81ED-4DB2-BD59-A6C34878D82A}">
                    <a16:rowId xmlns:a16="http://schemas.microsoft.com/office/drawing/2014/main" val="4006371122"/>
                  </a:ext>
                </a:extLst>
              </a:tr>
              <a:tr h="571500">
                <a:tc>
                  <a:txBody>
                    <a:bodyPr/>
                    <a:lstStyle/>
                    <a:p>
                      <a:r>
                        <a:rPr lang="en-IN" sz="1050">
                          <a:solidFill>
                            <a:srgbClr val="0F1A2D"/>
                          </a:solidFill>
                        </a:rPr>
                        <a:t>Feedback Gain</a:t>
                      </a:r>
                    </a:p>
                  </a:txBody>
                  <a:tcPr>
                    <a:solidFill>
                      <a:srgbClr val="FFFFFF"/>
                    </a:solidFill>
                  </a:tcPr>
                </a:tc>
                <a:tc>
                  <a:txBody>
                    <a:bodyPr/>
                    <a:lstStyle/>
                    <a:p>
                      <a:r>
                        <a:rPr lang="en-IN" sz="1050">
                          <a:solidFill>
                            <a:srgbClr val="0F1A2D"/>
                          </a:solidFill>
                        </a:rPr>
                        <a:t>K_paper</a:t>
                      </a:r>
                    </a:p>
                  </a:txBody>
                  <a:tcPr>
                    <a:solidFill>
                      <a:srgbClr val="FFFFFF"/>
                    </a:solidFill>
                  </a:tcPr>
                </a:tc>
                <a:tc>
                  <a:txBody>
                    <a:bodyPr/>
                    <a:lstStyle/>
                    <a:p>
                      <a:r>
                        <a:rPr lang="en-IN" sz="1050">
                          <a:solidFill>
                            <a:srgbClr val="0F1A2D"/>
                          </a:solidFill>
                        </a:rPr>
                        <a:t>K_paper</a:t>
                      </a:r>
                    </a:p>
                  </a:txBody>
                  <a:tcPr>
                    <a:solidFill>
                      <a:srgbClr val="FFFFFF"/>
                    </a:solidFill>
                  </a:tcPr>
                </a:tc>
                <a:tc>
                  <a:txBody>
                    <a:bodyPr/>
                    <a:lstStyle/>
                    <a:p>
                      <a:r>
                        <a:rPr lang="en-IN" sz="1050">
                          <a:solidFill>
                            <a:srgbClr val="0F1A2D"/>
                          </a:solidFill>
                        </a:rPr>
                        <a:t>K_paper</a:t>
                      </a:r>
                    </a:p>
                  </a:txBody>
                  <a:tcPr>
                    <a:solidFill>
                      <a:srgbClr val="FFFFFF"/>
                    </a:solidFill>
                  </a:tcPr>
                </a:tc>
                <a:tc>
                  <a:txBody>
                    <a:bodyPr/>
                    <a:lstStyle/>
                    <a:p>
                      <a:r>
                        <a:rPr lang="en-IN" sz="1050">
                          <a:solidFill>
                            <a:srgbClr val="0F1A2D"/>
                          </a:solidFill>
                        </a:rPr>
                        <a:t>K_paper</a:t>
                      </a:r>
                    </a:p>
                  </a:txBody>
                  <a:tcPr>
                    <a:solidFill>
                      <a:srgbClr val="FFFFFF"/>
                    </a:solidFill>
                  </a:tcPr>
                </a:tc>
                <a:tc>
                  <a:txBody>
                    <a:bodyPr/>
                    <a:lstStyle/>
                    <a:p>
                      <a:r>
                        <a:rPr lang="en-IN" sz="1050" b="1">
                          <a:solidFill>
                            <a:srgbClr val="106010"/>
                          </a:solidFill>
                        </a:rPr>
                        <a:t>K_opt (LMI)</a:t>
                      </a:r>
                    </a:p>
                  </a:txBody>
                  <a:tcPr>
                    <a:solidFill>
                      <a:srgbClr val="EAFAF0"/>
                    </a:solidFill>
                  </a:tcPr>
                </a:tc>
                <a:extLst>
                  <a:ext uri="{0D108BD9-81ED-4DB2-BD59-A6C34878D82A}">
                    <a16:rowId xmlns:a16="http://schemas.microsoft.com/office/drawing/2014/main" val="2083650772"/>
                  </a:ext>
                </a:extLst>
              </a:tr>
              <a:tr h="571500">
                <a:tc>
                  <a:txBody>
                    <a:bodyPr/>
                    <a:lstStyle/>
                    <a:p>
                      <a:r>
                        <a:rPr lang="en-IN" sz="1050">
                          <a:solidFill>
                            <a:srgbClr val="0F1A2D"/>
                          </a:solidFill>
                        </a:rPr>
                        <a:t>QP Feasibility Ratio</a:t>
                      </a:r>
                    </a:p>
                  </a:txBody>
                  <a:tcPr>
                    <a:solidFill>
                      <a:srgbClr val="FFFFFF"/>
                    </a:solidFill>
                  </a:tcPr>
                </a:tc>
                <a:tc>
                  <a:txBody>
                    <a:bodyPr/>
                    <a:lstStyle/>
                    <a:p>
                      <a:r>
                        <a:rPr lang="en-IN" sz="1050">
                          <a:solidFill>
                            <a:srgbClr val="0F1A2D"/>
                          </a:solidFill>
                        </a:rPr>
                        <a:t>100.0%</a:t>
                      </a:r>
                    </a:p>
                  </a:txBody>
                  <a:tcPr>
                    <a:solidFill>
                      <a:srgbClr val="FFFFFF"/>
                    </a:solidFill>
                  </a:tcPr>
                </a:tc>
                <a:tc>
                  <a:txBody>
                    <a:bodyPr/>
                    <a:lstStyle/>
                    <a:p>
                      <a:r>
                        <a:rPr lang="en-IN" sz="1050">
                          <a:solidFill>
                            <a:srgbClr val="0F1A2D"/>
                          </a:solidFill>
                        </a:rPr>
                        <a:t>100.0%</a:t>
                      </a:r>
                    </a:p>
                  </a:txBody>
                  <a:tcPr>
                    <a:solidFill>
                      <a:srgbClr val="FFFFFF"/>
                    </a:solidFill>
                  </a:tcPr>
                </a:tc>
                <a:tc>
                  <a:txBody>
                    <a:bodyPr/>
                    <a:lstStyle/>
                    <a:p>
                      <a:r>
                        <a:rPr lang="en-IN" sz="1050">
                          <a:solidFill>
                            <a:srgbClr val="0F1A2D"/>
                          </a:solidFill>
                        </a:rPr>
                        <a:t>33.3% (FAIL)</a:t>
                      </a:r>
                    </a:p>
                  </a:txBody>
                  <a:tcPr>
                    <a:solidFill>
                      <a:srgbClr val="FFFFFF"/>
                    </a:solidFill>
                  </a:tcPr>
                </a:tc>
                <a:tc>
                  <a:txBody>
                    <a:bodyPr/>
                    <a:lstStyle/>
                    <a:p>
                      <a:r>
                        <a:rPr lang="en-IN" sz="1050">
                          <a:solidFill>
                            <a:srgbClr val="0F1A2D"/>
                          </a:solidFill>
                        </a:rPr>
                        <a:t>86.3% (FAIL)</a:t>
                      </a:r>
                    </a:p>
                  </a:txBody>
                  <a:tcPr>
                    <a:solidFill>
                      <a:srgbClr val="FFFFFF"/>
                    </a:solidFill>
                  </a:tcPr>
                </a:tc>
                <a:tc>
                  <a:txBody>
                    <a:bodyPr/>
                    <a:lstStyle/>
                    <a:p>
                      <a:r>
                        <a:rPr lang="en-IN" sz="1050" b="1">
                          <a:solidFill>
                            <a:srgbClr val="106010"/>
                          </a:solidFill>
                        </a:rPr>
                        <a:t>100.0% (PASS)</a:t>
                      </a:r>
                    </a:p>
                  </a:txBody>
                  <a:tcPr>
                    <a:solidFill>
                      <a:srgbClr val="EAFAF0"/>
                    </a:solidFill>
                  </a:tcPr>
                </a:tc>
                <a:extLst>
                  <a:ext uri="{0D108BD9-81ED-4DB2-BD59-A6C34878D82A}">
                    <a16:rowId xmlns:a16="http://schemas.microsoft.com/office/drawing/2014/main" val="2519616688"/>
                  </a:ext>
                </a:extLst>
              </a:tr>
              <a:tr h="571500">
                <a:tc>
                  <a:txBody>
                    <a:bodyPr/>
                    <a:lstStyle/>
                    <a:p>
                      <a:r>
                        <a:rPr lang="en-IN" sz="1050">
                          <a:solidFill>
                            <a:srgbClr val="0F1A2D"/>
                          </a:solidFill>
                        </a:rPr>
                        <a:t>Fallback Steps</a:t>
                      </a:r>
                    </a:p>
                  </a:txBody>
                  <a:tcPr>
                    <a:solidFill>
                      <a:srgbClr val="FFFFFF"/>
                    </a:solidFill>
                  </a:tcPr>
                </a:tc>
                <a:tc>
                  <a:txBody>
                    <a:bodyPr/>
                    <a:lstStyle/>
                    <a:p>
                      <a:r>
                        <a:rPr lang="en-IN" sz="1050">
                          <a:solidFill>
                            <a:srgbClr val="0F1A2D"/>
                          </a:solidFill>
                        </a:rPr>
                        <a:t>0</a:t>
                      </a:r>
                    </a:p>
                  </a:txBody>
                  <a:tcPr>
                    <a:solidFill>
                      <a:srgbClr val="FFFFFF"/>
                    </a:solidFill>
                  </a:tcPr>
                </a:tc>
                <a:tc>
                  <a:txBody>
                    <a:bodyPr/>
                    <a:lstStyle/>
                    <a:p>
                      <a:r>
                        <a:rPr lang="en-IN" sz="1050">
                          <a:solidFill>
                            <a:srgbClr val="0F1A2D"/>
                          </a:solidFill>
                        </a:rPr>
                        <a:t>0</a:t>
                      </a:r>
                    </a:p>
                  </a:txBody>
                  <a:tcPr>
                    <a:solidFill>
                      <a:srgbClr val="FFFFFF"/>
                    </a:solidFill>
                  </a:tcPr>
                </a:tc>
                <a:tc>
                  <a:txBody>
                    <a:bodyPr/>
                    <a:lstStyle/>
                    <a:p>
                      <a:r>
                        <a:rPr lang="en-IN" sz="1050">
                          <a:solidFill>
                            <a:srgbClr val="0F1A2D"/>
                          </a:solidFill>
                        </a:rPr>
                        <a:t>34</a:t>
                      </a:r>
                    </a:p>
                  </a:txBody>
                  <a:tcPr>
                    <a:solidFill>
                      <a:srgbClr val="FFFFFF"/>
                    </a:solidFill>
                  </a:tcPr>
                </a:tc>
                <a:tc>
                  <a:txBody>
                    <a:bodyPr/>
                    <a:lstStyle/>
                    <a:p>
                      <a:r>
                        <a:rPr lang="en-IN" sz="1050">
                          <a:solidFill>
                            <a:srgbClr val="0F1A2D"/>
                          </a:solidFill>
                        </a:rPr>
                        <a:t>7</a:t>
                      </a:r>
                    </a:p>
                  </a:txBody>
                  <a:tcPr>
                    <a:solidFill>
                      <a:srgbClr val="FFFFFF"/>
                    </a:solidFill>
                  </a:tcPr>
                </a:tc>
                <a:tc>
                  <a:txBody>
                    <a:bodyPr/>
                    <a:lstStyle/>
                    <a:p>
                      <a:r>
                        <a:rPr lang="en-IN" sz="1050" b="1">
                          <a:solidFill>
                            <a:srgbClr val="106010"/>
                          </a:solidFill>
                        </a:rPr>
                        <a:t>0</a:t>
                      </a:r>
                    </a:p>
                  </a:txBody>
                  <a:tcPr>
                    <a:solidFill>
                      <a:srgbClr val="EAFAF0"/>
                    </a:solidFill>
                  </a:tcPr>
                </a:tc>
                <a:extLst>
                  <a:ext uri="{0D108BD9-81ED-4DB2-BD59-A6C34878D82A}">
                    <a16:rowId xmlns:a16="http://schemas.microsoft.com/office/drawing/2014/main" val="1481269680"/>
                  </a:ext>
                </a:extLst>
              </a:tr>
              <a:tr h="571500">
                <a:tc>
                  <a:txBody>
                    <a:bodyPr/>
                    <a:lstStyle/>
                    <a:p>
                      <a:r>
                        <a:rPr lang="en-IN" sz="1050">
                          <a:solidFill>
                            <a:srgbClr val="0F1A2D"/>
                          </a:solidFill>
                        </a:rPr>
                        <a:t>Max Slew Violation</a:t>
                      </a:r>
                    </a:p>
                  </a:txBody>
                  <a:tcPr>
                    <a:solidFill>
                      <a:srgbClr val="FFFFFF"/>
                    </a:solidFill>
                  </a:tcPr>
                </a:tc>
                <a:tc>
                  <a:txBody>
                    <a:bodyPr/>
                    <a:lstStyle/>
                    <a:p>
                      <a:r>
                        <a:rPr lang="en-IN" sz="1050">
                          <a:solidFill>
                            <a:srgbClr val="0F1A2D"/>
                          </a:solidFill>
                        </a:rPr>
                        <a:t>0.3539 (+142%)</a:t>
                      </a:r>
                    </a:p>
                  </a:txBody>
                  <a:tcPr>
                    <a:solidFill>
                      <a:srgbClr val="FFFFFF"/>
                    </a:solidFill>
                  </a:tcPr>
                </a:tc>
                <a:tc>
                  <a:txBody>
                    <a:bodyPr/>
                    <a:lstStyle/>
                    <a:p>
                      <a:r>
                        <a:rPr lang="en-IN" sz="1050">
                          <a:solidFill>
                            <a:srgbClr val="0F1A2D"/>
                          </a:solidFill>
                        </a:rPr>
                        <a:t>0.3539 (+142%)</a:t>
                      </a:r>
                    </a:p>
                  </a:txBody>
                  <a:tcPr>
                    <a:solidFill>
                      <a:srgbClr val="FFFFFF"/>
                    </a:solidFill>
                  </a:tcPr>
                </a:tc>
                <a:tc>
                  <a:txBody>
                    <a:bodyPr/>
                    <a:lstStyle/>
                    <a:p>
                      <a:r>
                        <a:rPr lang="en-IN" sz="1050">
                          <a:solidFill>
                            <a:srgbClr val="0F1A2D"/>
                          </a:solidFill>
                        </a:rPr>
                        <a:t>0.0000 m/s²</a:t>
                      </a:r>
                    </a:p>
                  </a:txBody>
                  <a:tcPr>
                    <a:solidFill>
                      <a:srgbClr val="FFFFFF"/>
                    </a:solidFill>
                  </a:tcPr>
                </a:tc>
                <a:tc>
                  <a:txBody>
                    <a:bodyPr/>
                    <a:lstStyle/>
                    <a:p>
                      <a:r>
                        <a:rPr lang="en-IN" sz="1050">
                          <a:solidFill>
                            <a:srgbClr val="0F1A2D"/>
                          </a:solidFill>
                        </a:rPr>
                        <a:t>0.0000 m/s²</a:t>
                      </a:r>
                    </a:p>
                  </a:txBody>
                  <a:tcPr>
                    <a:solidFill>
                      <a:srgbClr val="FFFFFF"/>
                    </a:solidFill>
                  </a:tcPr>
                </a:tc>
                <a:tc>
                  <a:txBody>
                    <a:bodyPr/>
                    <a:lstStyle/>
                    <a:p>
                      <a:r>
                        <a:rPr lang="en-IN" sz="1050" b="1">
                          <a:solidFill>
                            <a:srgbClr val="106010"/>
                          </a:solidFill>
                        </a:rPr>
                        <a:t>0.0000 m/s²</a:t>
                      </a:r>
                    </a:p>
                  </a:txBody>
                  <a:tcPr>
                    <a:solidFill>
                      <a:srgbClr val="EAFAF0"/>
                    </a:solidFill>
                  </a:tcPr>
                </a:tc>
                <a:extLst>
                  <a:ext uri="{0D108BD9-81ED-4DB2-BD59-A6C34878D82A}">
                    <a16:rowId xmlns:a16="http://schemas.microsoft.com/office/drawing/2014/main" val="183674518"/>
                  </a:ext>
                </a:extLst>
              </a:tr>
              <a:tr h="571500">
                <a:tc>
                  <a:txBody>
                    <a:bodyPr/>
                    <a:lstStyle/>
                    <a:p>
                      <a:r>
                        <a:rPr lang="en-IN" sz="1050">
                          <a:solidFill>
                            <a:srgbClr val="0F1A2D"/>
                          </a:solidFill>
                        </a:rPr>
                        <a:t>Min Interval Width</a:t>
                      </a:r>
                    </a:p>
                  </a:txBody>
                  <a:tcPr>
                    <a:solidFill>
                      <a:srgbClr val="FFFFFF"/>
                    </a:solidFill>
                  </a:tcPr>
                </a:tc>
                <a:tc>
                  <a:txBody>
                    <a:bodyPr/>
                    <a:lstStyle/>
                    <a:p>
                      <a:r>
                        <a:rPr lang="en-IN" sz="1050">
                          <a:solidFill>
                            <a:srgbClr val="0F1A2D"/>
                          </a:solidFill>
                        </a:rPr>
                        <a:t>+2.65 m/s²</a:t>
                      </a:r>
                    </a:p>
                  </a:txBody>
                  <a:tcPr>
                    <a:solidFill>
                      <a:srgbClr val="FFFFFF"/>
                    </a:solidFill>
                  </a:tcPr>
                </a:tc>
                <a:tc>
                  <a:txBody>
                    <a:bodyPr/>
                    <a:lstStyle/>
                    <a:p>
                      <a:r>
                        <a:rPr lang="en-IN" sz="1050">
                          <a:solidFill>
                            <a:srgbClr val="0F1A2D"/>
                          </a:solidFill>
                        </a:rPr>
                        <a:t>+4.79 m/s²</a:t>
                      </a:r>
                    </a:p>
                  </a:txBody>
                  <a:tcPr>
                    <a:solidFill>
                      <a:srgbClr val="FFFFFF"/>
                    </a:solidFill>
                  </a:tcPr>
                </a:tc>
                <a:tc>
                  <a:txBody>
                    <a:bodyPr/>
                    <a:lstStyle/>
                    <a:p>
                      <a:r>
                        <a:rPr lang="en-IN" sz="1050">
                          <a:solidFill>
                            <a:srgbClr val="0F1A2D"/>
                          </a:solidFill>
                        </a:rPr>
                        <a:t>-1.60 m/s² (COLLAPSED)</a:t>
                      </a:r>
                    </a:p>
                  </a:txBody>
                  <a:tcPr>
                    <a:solidFill>
                      <a:srgbClr val="FFFFFF"/>
                    </a:solidFill>
                  </a:tcPr>
                </a:tc>
                <a:tc>
                  <a:txBody>
                    <a:bodyPr/>
                    <a:lstStyle/>
                    <a:p>
                      <a:r>
                        <a:rPr lang="en-IN" sz="1050">
                          <a:solidFill>
                            <a:srgbClr val="0F1A2D"/>
                          </a:solidFill>
                        </a:rPr>
                        <a:t>-0.08 m/s² (COLLAPSED)</a:t>
                      </a:r>
                    </a:p>
                  </a:txBody>
                  <a:tcPr>
                    <a:solidFill>
                      <a:srgbClr val="FFFFFF"/>
                    </a:solidFill>
                  </a:tcPr>
                </a:tc>
                <a:tc>
                  <a:txBody>
                    <a:bodyPr/>
                    <a:lstStyle/>
                    <a:p>
                      <a:r>
                        <a:rPr lang="en-IN" sz="1050" b="1">
                          <a:solidFill>
                            <a:srgbClr val="106010"/>
                          </a:solidFill>
                        </a:rPr>
                        <a:t>+0.20 m/s² (OPEN)</a:t>
                      </a:r>
                    </a:p>
                  </a:txBody>
                  <a:tcPr>
                    <a:solidFill>
                      <a:srgbClr val="EAFAF0"/>
                    </a:solidFill>
                  </a:tcPr>
                </a:tc>
                <a:extLst>
                  <a:ext uri="{0D108BD9-81ED-4DB2-BD59-A6C34878D82A}">
                    <a16:rowId xmlns:a16="http://schemas.microsoft.com/office/drawing/2014/main" val="4243659202"/>
                  </a:ext>
                </a:extLst>
              </a:tr>
            </a:tbl>
          </a:graphicData>
        </a:graphic>
      </p:graphicFrame>
      <p:sp>
        <p:nvSpPr>
          <p:cNvPr id="5" name="TextBox 4">
            <a:extLst>
              <a:ext uri="{FF2B5EF4-FFF2-40B4-BE49-F238E27FC236}">
                <a16:creationId xmlns:a16="http://schemas.microsoft.com/office/drawing/2014/main" id="{632664C7-CC61-7775-6564-3CDB2A475116}"/>
              </a:ext>
            </a:extLst>
          </p:cNvPr>
          <p:cNvSpPr txBox="1"/>
          <p:nvPr/>
        </p:nvSpPr>
        <p:spPr>
          <a:xfrm>
            <a:off x="635000" y="6096000"/>
            <a:ext cx="10922000" cy="276999"/>
          </a:xfrm>
          <a:prstGeom prst="rect">
            <a:avLst/>
          </a:prstGeom>
          <a:noFill/>
        </p:spPr>
        <p:txBody>
          <a:bodyPr vert="horz" rtlCol="0">
            <a:spAutoFit/>
          </a:bodyPr>
          <a:lstStyle/>
          <a:p>
            <a:r>
              <a:rPr lang="en-US" sz="1200" b="1">
                <a:solidFill>
                  <a:srgbClr val="107010"/>
                </a:solidFill>
              </a:rPr>
              <a:t>Key takeaway: Only Variant E achieves BOTH 100% feasibility and ZERO slew rate violations!</a:t>
            </a:r>
            <a:endParaRPr lang="en-IN" sz="1200" b="1">
              <a:solidFill>
                <a:srgbClr val="107010"/>
              </a:solidFill>
            </a:endParaRPr>
          </a:p>
        </p:txBody>
      </p:sp>
    </p:spTree>
    <p:extLst>
      <p:ext uri="{BB962C8B-B14F-4D97-AF65-F5344CB8AC3E}">
        <p14:creationId xmlns:p14="http://schemas.microsoft.com/office/powerpoint/2010/main" val="1316934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EA66AF-F6C0-9DA8-463B-D2DB2D936797}"/>
              </a:ext>
            </a:extLst>
          </p:cNvPr>
          <p:cNvSpPr txBox="1"/>
          <p:nvPr/>
        </p:nvSpPr>
        <p:spPr>
          <a:xfrm>
            <a:off x="635000" y="317500"/>
            <a:ext cx="10922000" cy="200055"/>
          </a:xfrm>
          <a:prstGeom prst="rect">
            <a:avLst/>
          </a:prstGeom>
          <a:noFill/>
        </p:spPr>
        <p:txBody>
          <a:bodyPr vert="horz" lIns="0" tIns="0" rtlCol="0">
            <a:spAutoFit/>
          </a:bodyPr>
          <a:lstStyle/>
          <a:p>
            <a:r>
              <a:rPr lang="en-IN" sz="1000" b="1">
                <a:solidFill>
                  <a:srgbClr val="06B6D2"/>
                </a:solidFill>
                <a:latin typeface="Segoe UI" panose="020B0502040204020203" pitchFamily="34" charset="0"/>
              </a:rPr>
              <a:t>DEEP-DIVE ANALYSIS</a:t>
            </a:r>
          </a:p>
        </p:txBody>
      </p:sp>
      <p:sp>
        <p:nvSpPr>
          <p:cNvPr id="3" name="TextBox 2">
            <a:extLst>
              <a:ext uri="{FF2B5EF4-FFF2-40B4-BE49-F238E27FC236}">
                <a16:creationId xmlns:a16="http://schemas.microsoft.com/office/drawing/2014/main" id="{9A4A2B8E-0EAC-765C-EB86-4D15AD774E5F}"/>
              </a:ext>
            </a:extLst>
          </p:cNvPr>
          <p:cNvSpPr txBox="1"/>
          <p:nvPr/>
        </p:nvSpPr>
        <p:spPr>
          <a:xfrm>
            <a:off x="635000" y="571500"/>
            <a:ext cx="10922000" cy="384721"/>
          </a:xfrm>
          <a:prstGeom prst="rect">
            <a:avLst/>
          </a:prstGeom>
          <a:noFill/>
        </p:spPr>
        <p:txBody>
          <a:bodyPr vert="horz" lIns="0" tIns="0" rtlCol="0">
            <a:spAutoFit/>
          </a:bodyPr>
          <a:lstStyle/>
          <a:p>
            <a:r>
              <a:rPr lang="en-US" sz="2200" b="1">
                <a:solidFill>
                  <a:srgbClr val="0F1A2D"/>
                </a:solidFill>
                <a:latin typeface="Segoe UI Semibold" panose="020B0702040204020203" pitchFamily="34" charset="0"/>
              </a:rPr>
              <a:t>Why Variant D Got 86.3% and Variant E Got 100%</a:t>
            </a:r>
            <a:endParaRPr lang="en-IN" sz="2200" b="1">
              <a:solidFill>
                <a:srgbClr val="0F1A2D"/>
              </a:solidFill>
              <a:latin typeface="Segoe UI Semibold" panose="020B0702040204020203" pitchFamily="34" charset="0"/>
            </a:endParaRPr>
          </a:p>
        </p:txBody>
      </p:sp>
      <p:sp>
        <p:nvSpPr>
          <p:cNvPr id="4" name="Rectangle 3">
            <a:extLst>
              <a:ext uri="{FF2B5EF4-FFF2-40B4-BE49-F238E27FC236}">
                <a16:creationId xmlns:a16="http://schemas.microsoft.com/office/drawing/2014/main" id="{88776E99-5CD2-B601-C78B-2465737B638E}"/>
              </a:ext>
            </a:extLst>
          </p:cNvPr>
          <p:cNvSpPr/>
          <p:nvPr/>
        </p:nvSpPr>
        <p:spPr>
          <a:xfrm>
            <a:off x="635000" y="1397000"/>
            <a:ext cx="5207000" cy="4826000"/>
          </a:xfrm>
          <a:prstGeom prst="rect">
            <a:avLst/>
          </a:prstGeom>
          <a:solidFill>
            <a:srgbClr val="FFFFFF"/>
          </a:solidFill>
          <a:ln>
            <a:solidFill>
              <a:srgbClr val="EB4747"/>
            </a:solidFill>
          </a:ln>
        </p:spPr>
        <p:style>
          <a:lnRef idx="2">
            <a:schemeClr val="accent1">
              <a:shade val="15000"/>
            </a:schemeClr>
          </a:lnRef>
          <a:fillRef idx="1">
            <a:schemeClr val="accent1"/>
          </a:fillRef>
          <a:effectRef idx="0">
            <a:schemeClr val="accent1"/>
          </a:effectRef>
          <a:fontRef idx="minor">
            <a:schemeClr val="lt1"/>
          </a:fontRef>
        </p:style>
        <p:txBody>
          <a:bodyPr lIns="254000" tIns="254000" rtlCol="0" anchor="ctr"/>
          <a:lstStyle/>
          <a:p>
            <a:pPr algn="ctr"/>
            <a:r>
              <a:rPr lang="en-US" sz="1300">
                <a:solidFill>
                  <a:srgbClr val="0F1A2D"/>
                </a:solidFill>
                <a:latin typeface="Segoe UI" panose="020B0502040204020203" pitchFamily="34" charset="0"/>
              </a:rPr>
              <a:t>Why Variant D Failed in 7 Steps (86.3%):
• Uses literature gain: K_paper = [2.4855, -0.2200, -2.0959]
• Problem: K_paper is overly aggressive on position error (K1 = 2.49).
• When the lead car brakes suddenly (-1.0 m/s²):
  1. The tracking error spikes.
  2. The uncertainty tube balloons to peak sigma = 7.15.
  3. The tightened constraint interval squeezes to negative:
     w_min = -0.0847 m/s² &lt; 0
• Result: The lower bound became higher than the upper bound. The mathematical problem had NO SOLUTION for 7 steps!</a:t>
            </a:r>
            <a:endParaRPr lang="en-IN" sz="1300">
              <a:solidFill>
                <a:srgbClr val="0F1A2D"/>
              </a:solidFill>
              <a:latin typeface="Segoe UI" panose="020B0502040204020203" pitchFamily="34" charset="0"/>
            </a:endParaRPr>
          </a:p>
        </p:txBody>
      </p:sp>
      <p:sp>
        <p:nvSpPr>
          <p:cNvPr id="5" name="Rectangle 4">
            <a:extLst>
              <a:ext uri="{FF2B5EF4-FFF2-40B4-BE49-F238E27FC236}">
                <a16:creationId xmlns:a16="http://schemas.microsoft.com/office/drawing/2014/main" id="{F8DA1ED4-0B6F-CFED-DECA-609CBECC2E26}"/>
              </a:ext>
            </a:extLst>
          </p:cNvPr>
          <p:cNvSpPr/>
          <p:nvPr/>
        </p:nvSpPr>
        <p:spPr>
          <a:xfrm>
            <a:off x="6223000" y="1397000"/>
            <a:ext cx="5334000" cy="4826000"/>
          </a:xfrm>
          <a:prstGeom prst="rect">
            <a:avLst/>
          </a:prstGeom>
          <a:solidFill>
            <a:srgbClr val="FFFFFF"/>
          </a:solidFill>
          <a:ln>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254000" tIns="254000" rtlCol="0" anchor="ctr"/>
          <a:lstStyle/>
          <a:p>
            <a:pPr algn="ctr"/>
            <a:r>
              <a:rPr lang="en-US" sz="1300">
                <a:solidFill>
                  <a:srgbClr val="0F1A2D"/>
                </a:solidFill>
                <a:latin typeface="Segoe UI" panose="020B0502040204020203" pitchFamily="34" charset="0"/>
              </a:rPr>
              <a:t>Why Variant E Succeeded at 100.0%:
• Uses LMI co-designed gain: K_opt = [1.2345, -0.5985, -1.2588]
• Advantage: Synthesized via discrete LQR (R=50) &amp; certified by LMI to minimize input footprint.
• When the lead car brakes suddenly:
  1. The input tightening coefficient is reduced: g_u = 0.7555.
  2. The collapse threshold expands by +21.66% (sigma* = 13.25).
  3. Peak uncertainty is damped to sigma = 0.39 (18x smaller!).
  4. The constraint interval stays open: w_min = +0.20 m/s² &gt; 0.
• Result: 100% Feasibility (51/51 steps) with 0 fallbacks!</a:t>
            </a:r>
            <a:endParaRPr lang="en-IN" sz="1300">
              <a:solidFill>
                <a:srgbClr val="0F1A2D"/>
              </a:solidFill>
              <a:latin typeface="Segoe UI" panose="020B0502040204020203" pitchFamily="34" charset="0"/>
            </a:endParaRPr>
          </a:p>
        </p:txBody>
      </p:sp>
    </p:spTree>
    <p:extLst>
      <p:ext uri="{BB962C8B-B14F-4D97-AF65-F5344CB8AC3E}">
        <p14:creationId xmlns:p14="http://schemas.microsoft.com/office/powerpoint/2010/main" val="1067209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E065D5-3654-D833-9075-F67C57F963E1}"/>
              </a:ext>
            </a:extLst>
          </p:cNvPr>
          <p:cNvSpPr txBox="1"/>
          <p:nvPr/>
        </p:nvSpPr>
        <p:spPr>
          <a:xfrm>
            <a:off x="635000" y="317500"/>
            <a:ext cx="10922000" cy="200055"/>
          </a:xfrm>
          <a:prstGeom prst="rect">
            <a:avLst/>
          </a:prstGeom>
          <a:noFill/>
        </p:spPr>
        <p:txBody>
          <a:bodyPr vert="horz" lIns="0" tIns="0" rtlCol="0">
            <a:spAutoFit/>
          </a:bodyPr>
          <a:lstStyle/>
          <a:p>
            <a:r>
              <a:rPr lang="en-IN" sz="1000" b="1">
                <a:solidFill>
                  <a:srgbClr val="06B6D2"/>
                </a:solidFill>
                <a:latin typeface="Segoe UI" panose="020B0502040204020203" pitchFamily="34" charset="0"/>
              </a:rPr>
              <a:t>SAFETY ENVELOPE VERIFICATION</a:t>
            </a:r>
          </a:p>
        </p:txBody>
      </p:sp>
      <p:sp>
        <p:nvSpPr>
          <p:cNvPr id="3" name="TextBox 2">
            <a:extLst>
              <a:ext uri="{FF2B5EF4-FFF2-40B4-BE49-F238E27FC236}">
                <a16:creationId xmlns:a16="http://schemas.microsoft.com/office/drawing/2014/main" id="{FE3C605D-A999-2644-38CB-0824582D9D10}"/>
              </a:ext>
            </a:extLst>
          </p:cNvPr>
          <p:cNvSpPr txBox="1"/>
          <p:nvPr/>
        </p:nvSpPr>
        <p:spPr>
          <a:xfrm>
            <a:off x="635000" y="571500"/>
            <a:ext cx="10922000" cy="384721"/>
          </a:xfrm>
          <a:prstGeom prst="rect">
            <a:avLst/>
          </a:prstGeom>
          <a:noFill/>
        </p:spPr>
        <p:txBody>
          <a:bodyPr vert="horz" lIns="0" tIns="0" rtlCol="0">
            <a:spAutoFit/>
          </a:bodyPr>
          <a:lstStyle/>
          <a:p>
            <a:r>
              <a:rPr lang="en-US" sz="2200" b="1">
                <a:solidFill>
                  <a:srgbClr val="0F1A2D"/>
                </a:solidFill>
                <a:latin typeface="Segoe UI Semibold" panose="020B0702040204020203" pitchFamily="34" charset="0"/>
              </a:rPr>
              <a:t>Table III: 16-Case Emergency Stress Test</a:t>
            </a:r>
            <a:endParaRPr lang="en-IN" sz="2200" b="1">
              <a:solidFill>
                <a:srgbClr val="0F1A2D"/>
              </a:solidFill>
              <a:latin typeface="Segoe UI Semibold" panose="020B0702040204020203" pitchFamily="34" charset="0"/>
            </a:endParaRPr>
          </a:p>
        </p:txBody>
      </p:sp>
      <p:sp>
        <p:nvSpPr>
          <p:cNvPr id="4" name="Rectangle 3">
            <a:extLst>
              <a:ext uri="{FF2B5EF4-FFF2-40B4-BE49-F238E27FC236}">
                <a16:creationId xmlns:a16="http://schemas.microsoft.com/office/drawing/2014/main" id="{BCBF66EC-448A-9040-66EA-EF67684F8522}"/>
              </a:ext>
            </a:extLst>
          </p:cNvPr>
          <p:cNvSpPr/>
          <p:nvPr/>
        </p:nvSpPr>
        <p:spPr>
          <a:xfrm>
            <a:off x="635000" y="1397000"/>
            <a:ext cx="3429000" cy="4826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190500" tIns="190500" rtlCol="0" anchor="ctr"/>
          <a:lstStyle/>
          <a:p>
            <a:pPr algn="ctr"/>
            <a:r>
              <a:rPr lang="en-US" sz="1250">
                <a:solidFill>
                  <a:srgbClr val="0F1A2D"/>
                </a:solidFill>
                <a:latin typeface="Segoe UI" panose="020B0502040204020203" pitchFamily="34" charset="0"/>
              </a:rPr>
              <a:t>Controller A
(Nominal MPC Baseline)
• Rate limits: NONE
• Slew Rate Violations:
  Violated limits in 11 of 16 cases!
• Peak Slew Violation:
  0.7683 m/s² (Case 4)
• Verdict:
  Cannot run on real car hardware without causing severe actuator jerk and saturation.</a:t>
            </a:r>
            <a:endParaRPr lang="en-IN" sz="1250">
              <a:solidFill>
                <a:srgbClr val="0F1A2D"/>
              </a:solidFill>
              <a:latin typeface="Segoe UI" panose="020B0502040204020203" pitchFamily="34" charset="0"/>
            </a:endParaRPr>
          </a:p>
        </p:txBody>
      </p:sp>
      <p:sp>
        <p:nvSpPr>
          <p:cNvPr id="5" name="Rectangle 4">
            <a:extLst>
              <a:ext uri="{FF2B5EF4-FFF2-40B4-BE49-F238E27FC236}">
                <a16:creationId xmlns:a16="http://schemas.microsoft.com/office/drawing/2014/main" id="{B8D66C18-206F-40C4-417E-E174DB190EE4}"/>
              </a:ext>
            </a:extLst>
          </p:cNvPr>
          <p:cNvSpPr/>
          <p:nvPr/>
        </p:nvSpPr>
        <p:spPr>
          <a:xfrm>
            <a:off x="4381500" y="1397000"/>
            <a:ext cx="3429000" cy="4826000"/>
          </a:xfrm>
          <a:prstGeom prst="rect">
            <a:avLst/>
          </a:prstGeom>
          <a:solidFill>
            <a:srgbClr val="FFFFFF"/>
          </a:solidFill>
          <a:ln>
            <a:solidFill>
              <a:srgbClr val="EB4747"/>
            </a:solidFill>
          </a:ln>
        </p:spPr>
        <p:style>
          <a:lnRef idx="2">
            <a:schemeClr val="accent1">
              <a:shade val="15000"/>
            </a:schemeClr>
          </a:lnRef>
          <a:fillRef idx="1">
            <a:schemeClr val="accent1"/>
          </a:fillRef>
          <a:effectRef idx="0">
            <a:schemeClr val="accent1"/>
          </a:effectRef>
          <a:fontRef idx="minor">
            <a:schemeClr val="lt1"/>
          </a:fontRef>
        </p:style>
        <p:txBody>
          <a:bodyPr lIns="190500" tIns="190500" rtlCol="0" anchor="ctr"/>
          <a:lstStyle/>
          <a:p>
            <a:pPr algn="ctr"/>
            <a:r>
              <a:rPr lang="en-IN" sz="1250">
                <a:solidFill>
                  <a:srgbClr val="0F1A2D"/>
                </a:solidFill>
                <a:latin typeface="Segoe UI" panose="020B0502040204020203" pitchFamily="34" charset="0"/>
              </a:rPr>
              <a:t>Controller B
(Quan et al. 2024 Static Tube)
• Rate limits: Unconstrained feedback
• Slew Rate Violations:
  Violated limits in ALL 16 of 16 cases! (100% failure)
• Peak Slew Violation:
  2.4373 m/s² (+974.9% overshoot!)
• Verdict:
  Unconstrained feedback causes dangerous torque spikes during sudden stops.</a:t>
            </a:r>
          </a:p>
        </p:txBody>
      </p:sp>
      <p:sp>
        <p:nvSpPr>
          <p:cNvPr id="6" name="Rectangle 5">
            <a:extLst>
              <a:ext uri="{FF2B5EF4-FFF2-40B4-BE49-F238E27FC236}">
                <a16:creationId xmlns:a16="http://schemas.microsoft.com/office/drawing/2014/main" id="{33CDB6E9-221B-1854-C431-7EE118524AD5}"/>
              </a:ext>
            </a:extLst>
          </p:cNvPr>
          <p:cNvSpPr/>
          <p:nvPr/>
        </p:nvSpPr>
        <p:spPr>
          <a:xfrm>
            <a:off x="8128000" y="1397000"/>
            <a:ext cx="3429000" cy="4826000"/>
          </a:xfrm>
          <a:prstGeom prst="rect">
            <a:avLst/>
          </a:prstGeom>
          <a:solidFill>
            <a:srgbClr val="EAFAF0"/>
          </a:solidFill>
          <a:ln>
            <a:solidFill>
              <a:srgbClr val="10B981"/>
            </a:solidFill>
          </a:ln>
        </p:spPr>
        <p:style>
          <a:lnRef idx="2">
            <a:schemeClr val="accent1">
              <a:shade val="15000"/>
            </a:schemeClr>
          </a:lnRef>
          <a:fillRef idx="1">
            <a:schemeClr val="accent1"/>
          </a:fillRef>
          <a:effectRef idx="0">
            <a:schemeClr val="accent1"/>
          </a:effectRef>
          <a:fontRef idx="minor">
            <a:schemeClr val="lt1"/>
          </a:fontRef>
        </p:style>
        <p:txBody>
          <a:bodyPr lIns="190500" tIns="190500" rtlCol="0" anchor="ctr"/>
          <a:lstStyle/>
          <a:p>
            <a:pPr algn="ctr"/>
            <a:r>
              <a:rPr lang="en-US" sz="1250">
                <a:solidFill>
                  <a:srgbClr val="0F1A2D"/>
                </a:solidFill>
                <a:latin typeface="Segoe UI" panose="020B0502040204020203" pitchFamily="34" charset="0"/>
              </a:rPr>
              <a:t>Controller C
(Our Proposed Co-Design)
• Rate limits: Enforced via Prop 1 &amp; 2
• Slew Rate Violations:
  ZERO structural violations in all 16 cases!
  (residuals &lt;= 5.1 x 10^-5 m/s² solver tol)
• Minimum Clearance:
  l_min &gt;= 20.56 m (Safe from crash!)
• Verdict:
  100% compliant with hardware limits and collision-free!</a:t>
            </a:r>
            <a:endParaRPr lang="en-IN" sz="1250">
              <a:solidFill>
                <a:srgbClr val="0F1A2D"/>
              </a:solidFill>
              <a:latin typeface="Segoe UI" panose="020B0502040204020203" pitchFamily="34" charset="0"/>
            </a:endParaRPr>
          </a:p>
        </p:txBody>
      </p:sp>
    </p:spTree>
    <p:extLst>
      <p:ext uri="{BB962C8B-B14F-4D97-AF65-F5344CB8AC3E}">
        <p14:creationId xmlns:p14="http://schemas.microsoft.com/office/powerpoint/2010/main" val="4004519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AA832F-C1CA-8614-48A4-5244ECF1E75B}"/>
              </a:ext>
            </a:extLst>
          </p:cNvPr>
          <p:cNvSpPr txBox="1"/>
          <p:nvPr/>
        </p:nvSpPr>
        <p:spPr>
          <a:xfrm>
            <a:off x="635000" y="317500"/>
            <a:ext cx="10922000" cy="200055"/>
          </a:xfrm>
          <a:prstGeom prst="rect">
            <a:avLst/>
          </a:prstGeom>
          <a:noFill/>
        </p:spPr>
        <p:txBody>
          <a:bodyPr vert="horz" lIns="0" tIns="0" rtlCol="0">
            <a:spAutoFit/>
          </a:bodyPr>
          <a:lstStyle/>
          <a:p>
            <a:r>
              <a:rPr lang="en-IN" sz="1000" b="1">
                <a:solidFill>
                  <a:srgbClr val="06B6D2"/>
                </a:solidFill>
                <a:latin typeface="Segoe UI" panose="020B0502040204020203" pitchFamily="34" charset="0"/>
              </a:rPr>
              <a:t>DELIVERABLES &amp; DEMOS</a:t>
            </a:r>
          </a:p>
        </p:txBody>
      </p:sp>
      <p:sp>
        <p:nvSpPr>
          <p:cNvPr id="3" name="TextBox 2">
            <a:extLst>
              <a:ext uri="{FF2B5EF4-FFF2-40B4-BE49-F238E27FC236}">
                <a16:creationId xmlns:a16="http://schemas.microsoft.com/office/drawing/2014/main" id="{72AC4F27-CEB9-CEC2-A11A-C2EEABBE7738}"/>
              </a:ext>
            </a:extLst>
          </p:cNvPr>
          <p:cNvSpPr txBox="1"/>
          <p:nvPr/>
        </p:nvSpPr>
        <p:spPr>
          <a:xfrm>
            <a:off x="635000" y="571500"/>
            <a:ext cx="10922000" cy="384721"/>
          </a:xfrm>
          <a:prstGeom prst="rect">
            <a:avLst/>
          </a:prstGeom>
          <a:noFill/>
        </p:spPr>
        <p:txBody>
          <a:bodyPr vert="horz" lIns="0" tIns="0" rtlCol="0">
            <a:spAutoFit/>
          </a:bodyPr>
          <a:lstStyle/>
          <a:p>
            <a:r>
              <a:rPr lang="en-US" sz="2200" b="1">
                <a:solidFill>
                  <a:srgbClr val="0F1A2D"/>
                </a:solidFill>
                <a:latin typeface="Segoe UI Semibold" panose="020B0702040204020203" pitchFamily="34" charset="0"/>
              </a:rPr>
              <a:t>Live Simulator, GitHub Pages, and Open-Source Package</a:t>
            </a:r>
            <a:endParaRPr lang="en-IN" sz="2200" b="1">
              <a:solidFill>
                <a:srgbClr val="0F1A2D"/>
              </a:solidFill>
              <a:latin typeface="Segoe UI Semibold" panose="020B0702040204020203" pitchFamily="34" charset="0"/>
            </a:endParaRPr>
          </a:p>
        </p:txBody>
      </p:sp>
      <p:sp>
        <p:nvSpPr>
          <p:cNvPr id="4" name="Rectangle 3">
            <a:extLst>
              <a:ext uri="{FF2B5EF4-FFF2-40B4-BE49-F238E27FC236}">
                <a16:creationId xmlns:a16="http://schemas.microsoft.com/office/drawing/2014/main" id="{71631101-1DE0-7146-2950-0D38B7743ABD}"/>
              </a:ext>
            </a:extLst>
          </p:cNvPr>
          <p:cNvSpPr/>
          <p:nvPr/>
        </p:nvSpPr>
        <p:spPr>
          <a:xfrm>
            <a:off x="635000" y="1460500"/>
            <a:ext cx="10922000" cy="1397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254000" tIns="190500" rtlCol="0" anchor="ctr"/>
          <a:lstStyle/>
          <a:p>
            <a:pPr algn="ctr"/>
            <a:r>
              <a:rPr lang="en-US" sz="1300">
                <a:solidFill>
                  <a:srgbClr val="0F1A2D"/>
                </a:solidFill>
                <a:latin typeface="Segoe UI" panose="020B0502040204020203" pitchFamily="34" charset="0"/>
              </a:rPr>
              <a:t>1. Live Web Simulator
Hosted on GitHub Pages with interactive highway animation, dynamic brake lights, real-time telemetry gauges, and time slider.
Link/Status: https://aavi4502-pixel.github.io/Robust-Tube-Model-Predictive-Control-for-Adaptive-Cruise-Control/</a:t>
            </a:r>
            <a:endParaRPr lang="en-IN" sz="1300">
              <a:solidFill>
                <a:srgbClr val="0F1A2D"/>
              </a:solidFill>
              <a:latin typeface="Segoe UI" panose="020B0502040204020203" pitchFamily="34" charset="0"/>
            </a:endParaRPr>
          </a:p>
        </p:txBody>
      </p:sp>
      <p:sp>
        <p:nvSpPr>
          <p:cNvPr id="5" name="Rectangle 4">
            <a:extLst>
              <a:ext uri="{FF2B5EF4-FFF2-40B4-BE49-F238E27FC236}">
                <a16:creationId xmlns:a16="http://schemas.microsoft.com/office/drawing/2014/main" id="{59EF9593-AFAB-CAFA-DC39-59547630627E}"/>
              </a:ext>
            </a:extLst>
          </p:cNvPr>
          <p:cNvSpPr/>
          <p:nvPr/>
        </p:nvSpPr>
        <p:spPr>
          <a:xfrm>
            <a:off x="635000" y="3048000"/>
            <a:ext cx="10922000" cy="1397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254000" tIns="190500" rtlCol="0" anchor="ctr"/>
          <a:lstStyle/>
          <a:p>
            <a:pPr algn="ctr"/>
            <a:r>
              <a:rPr lang="en-IN" sz="1300">
                <a:solidFill>
                  <a:srgbClr val="0F1A2D"/>
                </a:solidFill>
                <a:latin typeface="Segoe UI" panose="020B0502040204020203" pitchFamily="34" charset="0"/>
              </a:rPr>
              <a:t>2. MATLAB &amp; Simulink Package
Complete stage 48 reproducibility package with ACC_Stage43GE_Experimental.slx model and reproduce_all.m script.
Link/Status: 26/26 automated integrity checks pass</a:t>
            </a:r>
          </a:p>
        </p:txBody>
      </p:sp>
      <p:sp>
        <p:nvSpPr>
          <p:cNvPr id="6" name="Rectangle 5">
            <a:extLst>
              <a:ext uri="{FF2B5EF4-FFF2-40B4-BE49-F238E27FC236}">
                <a16:creationId xmlns:a16="http://schemas.microsoft.com/office/drawing/2014/main" id="{E8FF4393-5F3C-D971-E2F0-251C780AD6C5}"/>
              </a:ext>
            </a:extLst>
          </p:cNvPr>
          <p:cNvSpPr/>
          <p:nvPr/>
        </p:nvSpPr>
        <p:spPr>
          <a:xfrm>
            <a:off x="635000" y="4635500"/>
            <a:ext cx="10922000" cy="1397000"/>
          </a:xfrm>
          <a:prstGeom prst="rect">
            <a:avLst/>
          </a:prstGeom>
          <a:solidFill>
            <a:srgbClr val="FFFFFF"/>
          </a:solidFill>
          <a:ln>
            <a:solidFill>
              <a:srgbClr val="BEC8D0"/>
            </a:solidFill>
          </a:ln>
        </p:spPr>
        <p:style>
          <a:lnRef idx="2">
            <a:schemeClr val="accent1">
              <a:shade val="15000"/>
            </a:schemeClr>
          </a:lnRef>
          <a:fillRef idx="1">
            <a:schemeClr val="accent1"/>
          </a:fillRef>
          <a:effectRef idx="0">
            <a:schemeClr val="accent1"/>
          </a:effectRef>
          <a:fontRef idx="minor">
            <a:schemeClr val="lt1"/>
          </a:fontRef>
        </p:style>
        <p:txBody>
          <a:bodyPr lIns="254000" tIns="190500" rtlCol="0" anchor="ctr"/>
          <a:lstStyle/>
          <a:p>
            <a:pPr algn="ctr"/>
            <a:r>
              <a:rPr lang="en-IN" sz="1300">
                <a:solidFill>
                  <a:srgbClr val="0F1A2D"/>
                </a:solidFill>
                <a:latin typeface="Segoe UI" panose="020B0502040204020203" pitchFamily="34" charset="0"/>
              </a:rPr>
              <a:t>3. IEEE TCST Manuscript Draft
Complete 656-line IEEEtran LaTeX draft with rigorous proofs for Lemma 1, Theorem 1, and Propositions 1 &amp; 2.
Link/Status: Under Review at IEEE TCST</a:t>
            </a:r>
          </a:p>
        </p:txBody>
      </p:sp>
    </p:spTree>
    <p:extLst>
      <p:ext uri="{BB962C8B-B14F-4D97-AF65-F5344CB8AC3E}">
        <p14:creationId xmlns:p14="http://schemas.microsoft.com/office/powerpoint/2010/main" val="2136105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7B514E-BC6D-6953-B01E-EB85BAD2DFD6}"/>
              </a:ext>
            </a:extLst>
          </p:cNvPr>
          <p:cNvSpPr txBox="1"/>
          <p:nvPr/>
        </p:nvSpPr>
        <p:spPr>
          <a:xfrm>
            <a:off x="635000" y="571500"/>
            <a:ext cx="10922000" cy="492443"/>
          </a:xfrm>
          <a:prstGeom prst="rect">
            <a:avLst/>
          </a:prstGeom>
          <a:noFill/>
        </p:spPr>
        <p:txBody>
          <a:bodyPr vert="horz" rtlCol="0">
            <a:spAutoFit/>
          </a:bodyPr>
          <a:lstStyle/>
          <a:p>
            <a:r>
              <a:rPr lang="en-IN" sz="2600" b="1">
                <a:solidFill>
                  <a:srgbClr val="FFFFFF"/>
                </a:solidFill>
                <a:latin typeface="Segoe UI" panose="020B0502040204020203" pitchFamily="34" charset="0"/>
              </a:rPr>
              <a:t>Conclusion &amp; Research Takeaways</a:t>
            </a:r>
          </a:p>
        </p:txBody>
      </p:sp>
      <p:sp>
        <p:nvSpPr>
          <p:cNvPr id="3" name="Rectangle 2">
            <a:extLst>
              <a:ext uri="{FF2B5EF4-FFF2-40B4-BE49-F238E27FC236}">
                <a16:creationId xmlns:a16="http://schemas.microsoft.com/office/drawing/2014/main" id="{E25212FC-67A2-0E71-D592-F96AA5FA387E}"/>
              </a:ext>
            </a:extLst>
          </p:cNvPr>
          <p:cNvSpPr/>
          <p:nvPr/>
        </p:nvSpPr>
        <p:spPr>
          <a:xfrm>
            <a:off x="635000" y="1524000"/>
            <a:ext cx="10922000" cy="4572000"/>
          </a:xfrm>
          <a:prstGeom prst="rect">
            <a:avLst/>
          </a:prstGeom>
          <a:solidFill>
            <a:srgbClr val="161D24"/>
          </a:solidFill>
          <a:ln>
            <a:solidFill>
              <a:srgbClr val="06B6D2"/>
            </a:solidFill>
          </a:ln>
        </p:spPr>
        <p:style>
          <a:lnRef idx="2">
            <a:schemeClr val="accent1">
              <a:shade val="15000"/>
            </a:schemeClr>
          </a:lnRef>
          <a:fillRef idx="1">
            <a:schemeClr val="accent1"/>
          </a:fillRef>
          <a:effectRef idx="0">
            <a:schemeClr val="accent1"/>
          </a:effectRef>
          <a:fontRef idx="minor">
            <a:schemeClr val="lt1"/>
          </a:fontRef>
        </p:style>
        <p:txBody>
          <a:bodyPr lIns="381000" tIns="317500" rtlCol="0" anchor="ctr"/>
          <a:lstStyle/>
          <a:p>
            <a:pPr algn="ctr"/>
            <a:r>
              <a:rPr lang="en-US" sz="1400">
                <a:solidFill>
                  <a:srgbClr val="FFFFFF"/>
                </a:solidFill>
                <a:latin typeface="Segoe UI" panose="020B0502040204020203" pitchFamily="34" charset="0"/>
              </a:rPr>
              <a:t>What We Achieved in this Project:
1. Eliminated Actuator Slew Rate Violations:
   First Tube MPC formulation to guarantee physical rate compliance (|?u| &lt;= 0.25 m/s²) at the hardware ECU level via Step-0 conditioning.
2. Solved Input-Interval Collapse:
   Restored QP feasibility from 33.3% to 100.0% by combining trajectory bounds with LMI gain co-design, expanding collapse margin by +21.66%.
3. Improved Ride Comfort &amp; Efficiency:
   Reduced total control variation by -48.4% and damped peak uncertainty by 98.2%, preventing driveline chatter.
4. Verified Across 16 Emergency Scenarios:
   Zero structural violations across severe braking, closing speed, and wind gusts with safe clearance (l_min &gt;= 20.56 m).
Thank you! I welcome any questions.</a:t>
            </a:r>
            <a:endParaRPr lang="en-IN" sz="1400">
              <a:solidFill>
                <a:srgbClr val="FFFFFF"/>
              </a:solidFill>
              <a:latin typeface="Segoe UI" panose="020B0502040204020203" pitchFamily="34" charset="0"/>
            </a:endParaRPr>
          </a:p>
        </p:txBody>
      </p:sp>
    </p:spTree>
    <p:extLst>
      <p:ext uri="{BB962C8B-B14F-4D97-AF65-F5344CB8AC3E}">
        <p14:creationId xmlns:p14="http://schemas.microsoft.com/office/powerpoint/2010/main" val="4098375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3203</Words>
  <Application>Microsoft Office PowerPoint</Application>
  <PresentationFormat>Custom</PresentationFormat>
  <Paragraphs>116</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Calibri Light</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avinash mathangi</dc:creator>
  <cp:lastModifiedBy>avinash mathangi</cp:lastModifiedBy>
  <cp:revision>1</cp:revision>
  <dcterms:created xsi:type="dcterms:W3CDTF">2026-10-22T05:06:23Z</dcterms:created>
  <dcterms:modified xsi:type="dcterms:W3CDTF">2026-10-22T05:06:23Z</dcterms:modified>
</cp:coreProperties>
</file>